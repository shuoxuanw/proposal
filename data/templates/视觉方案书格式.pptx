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3"/>
    <p:sldId id="257" r:id="rId4"/>
    <p:sldId id="258" r:id="rId5"/>
    <p:sldId id="267" r:id="rId6"/>
    <p:sldId id="260" r:id="rId7"/>
    <p:sldId id="270" r:id="rId8"/>
    <p:sldId id="278" r:id="rId9"/>
    <p:sldId id="266" r:id="rId10"/>
  </p:sldIdLst>
  <p:sldSz cx="12192000" cy="6858000"/>
  <p:notesSz cx="6858000" cy="9144000"/>
  <p:embeddedFontLst>
    <p:embeddedFont>
      <p:font typeface="微软雅黑" panose="020B0503020204020204" charset="-122"/>
      <p:regular r:id="rId16"/>
      <p:bold r:id="rId17"/>
    </p:embeddedFont>
    <p:embeddedFont>
      <p:font typeface="WPS灵秀黑" charset="-122"/>
      <p:regular r:id="rId18"/>
    </p:embeddedFont>
    <p:embeddedFont>
      <p:font typeface="Calibri" panose="020F0502020204030204" charset="0"/>
      <p:regular r:id="rId19"/>
      <p:bold r:id="rId20"/>
      <p:italic r:id="rId21"/>
      <p:boldItalic r:id="rId22"/>
    </p:embeddedFont>
  </p:embeddedFontLst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 userDrawn="1">
          <p15:clr>
            <a:srgbClr val="A4A3A4"/>
          </p15:clr>
        </p15:guide>
        <p15:guide id="2" pos="38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EBBBCC-DAD2-459C-BE2E-F6DE35CF9A28}" styleName="深色样式 2 - 强调 3/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58"/>
        <p:guide pos="381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gs" Target="tags/tag113.xml"/><Relationship Id="rId22" Type="http://schemas.openxmlformats.org/officeDocument/2006/relationships/font" Target="fonts/font7.fntdata"/><Relationship Id="rId21" Type="http://schemas.openxmlformats.org/officeDocument/2006/relationships/font" Target="fonts/font6.fntdata"/><Relationship Id="rId20" Type="http://schemas.openxmlformats.org/officeDocument/2006/relationships/font" Target="fonts/font5.fntdata"/><Relationship Id="rId2" Type="http://schemas.openxmlformats.org/officeDocument/2006/relationships/theme" Target="theme/theme1.xml"/><Relationship Id="rId19" Type="http://schemas.openxmlformats.org/officeDocument/2006/relationships/font" Target="fonts/font4.fntdata"/><Relationship Id="rId18" Type="http://schemas.openxmlformats.org/officeDocument/2006/relationships/font" Target="fonts/font3.fntdata"/><Relationship Id="rId17" Type="http://schemas.openxmlformats.org/officeDocument/2006/relationships/font" Target="fonts/font2.fntdata"/><Relationship Id="rId16" Type="http://schemas.openxmlformats.org/officeDocument/2006/relationships/font" Target="fonts/font1.fntdata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tags" Target="../tags/tag68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.v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73.xml"/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" Type="http://schemas.openxmlformats.org/officeDocument/2006/relationships/image" Target="../media/image3.wmf"/><Relationship Id="rId1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tags" Target="../tags/tag74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85.xml"/><Relationship Id="rId8" Type="http://schemas.openxmlformats.org/officeDocument/2006/relationships/tags" Target="../tags/tag84.xml"/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2" Type="http://schemas.openxmlformats.org/officeDocument/2006/relationships/slideLayout" Target="../slideLayouts/slideLayout1.xml"/><Relationship Id="rId31" Type="http://schemas.openxmlformats.org/officeDocument/2006/relationships/tags" Target="../tags/tag107.xml"/><Relationship Id="rId30" Type="http://schemas.openxmlformats.org/officeDocument/2006/relationships/tags" Target="../tags/tag106.xml"/><Relationship Id="rId3" Type="http://schemas.openxmlformats.org/officeDocument/2006/relationships/tags" Target="../tags/tag79.xml"/><Relationship Id="rId29" Type="http://schemas.openxmlformats.org/officeDocument/2006/relationships/tags" Target="../tags/tag105.xml"/><Relationship Id="rId28" Type="http://schemas.openxmlformats.org/officeDocument/2006/relationships/tags" Target="../tags/tag104.xml"/><Relationship Id="rId27" Type="http://schemas.openxmlformats.org/officeDocument/2006/relationships/tags" Target="../tags/tag103.xml"/><Relationship Id="rId26" Type="http://schemas.openxmlformats.org/officeDocument/2006/relationships/tags" Target="../tags/tag102.xml"/><Relationship Id="rId25" Type="http://schemas.openxmlformats.org/officeDocument/2006/relationships/tags" Target="../tags/tag101.xml"/><Relationship Id="rId24" Type="http://schemas.openxmlformats.org/officeDocument/2006/relationships/tags" Target="../tags/tag100.xml"/><Relationship Id="rId23" Type="http://schemas.openxmlformats.org/officeDocument/2006/relationships/tags" Target="../tags/tag99.xml"/><Relationship Id="rId22" Type="http://schemas.openxmlformats.org/officeDocument/2006/relationships/tags" Target="../tags/tag98.xml"/><Relationship Id="rId21" Type="http://schemas.openxmlformats.org/officeDocument/2006/relationships/tags" Target="../tags/tag97.xml"/><Relationship Id="rId20" Type="http://schemas.openxmlformats.org/officeDocument/2006/relationships/tags" Target="../tags/tag96.xml"/><Relationship Id="rId2" Type="http://schemas.openxmlformats.org/officeDocument/2006/relationships/tags" Target="../tags/tag78.xml"/><Relationship Id="rId19" Type="http://schemas.openxmlformats.org/officeDocument/2006/relationships/tags" Target="../tags/tag95.xml"/><Relationship Id="rId18" Type="http://schemas.openxmlformats.org/officeDocument/2006/relationships/tags" Target="../tags/tag94.xml"/><Relationship Id="rId17" Type="http://schemas.openxmlformats.org/officeDocument/2006/relationships/tags" Target="../tags/tag93.xml"/><Relationship Id="rId16" Type="http://schemas.openxmlformats.org/officeDocument/2006/relationships/tags" Target="../tags/tag92.xml"/><Relationship Id="rId15" Type="http://schemas.openxmlformats.org/officeDocument/2006/relationships/tags" Target="../tags/tag91.xml"/><Relationship Id="rId14" Type="http://schemas.openxmlformats.org/officeDocument/2006/relationships/tags" Target="../tags/tag90.xml"/><Relationship Id="rId13" Type="http://schemas.openxmlformats.org/officeDocument/2006/relationships/tags" Target="../tags/tag89.xml"/><Relationship Id="rId12" Type="http://schemas.openxmlformats.org/officeDocument/2006/relationships/tags" Target="../tags/tag88.xml"/><Relationship Id="rId11" Type="http://schemas.openxmlformats.org/officeDocument/2006/relationships/tags" Target="../tags/tag87.xml"/><Relationship Id="rId10" Type="http://schemas.openxmlformats.org/officeDocument/2006/relationships/tags" Target="../tags/tag86.xml"/><Relationship Id="rId1" Type="http://schemas.openxmlformats.org/officeDocument/2006/relationships/tags" Target="../tags/tag77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10.xml"/><Relationship Id="rId2" Type="http://schemas.openxmlformats.org/officeDocument/2006/relationships/tags" Target="../tags/tag109.xml"/><Relationship Id="rId1" Type="http://schemas.openxmlformats.org/officeDocument/2006/relationships/tags" Target="../tags/tag10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12.xml"/><Relationship Id="rId1" Type="http://schemas.openxmlformats.org/officeDocument/2006/relationships/tags" Target="../tags/tag1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矩形 83"/>
          <p:cNvSpPr/>
          <p:nvPr userDrawn="1"/>
        </p:nvSpPr>
        <p:spPr>
          <a:xfrm>
            <a:off x="0" y="0"/>
            <a:ext cx="12261215" cy="6884670"/>
          </a:xfrm>
          <a:prstGeom prst="rect">
            <a:avLst/>
          </a:prstGeom>
          <a:gradFill>
            <a:gsLst>
              <a:gs pos="76000">
                <a:srgbClr val="FFFFFF">
                  <a:alpha val="75000"/>
                </a:srgbClr>
              </a:gs>
              <a:gs pos="90000">
                <a:srgbClr val="FFFFFF">
                  <a:alpha val="100000"/>
                </a:srgbClr>
              </a:gs>
              <a:gs pos="12000">
                <a:srgbClr val="B1DCFD"/>
              </a:gs>
            </a:gsLst>
            <a:lin ang="0" scaled="0"/>
          </a:gradFill>
          <a:ln>
            <a:noFill/>
          </a:ln>
          <a:effectLst>
            <a:reflection stA="0" endPos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2272665" y="1965960"/>
            <a:ext cx="7905750" cy="872490"/>
          </a:xfrm>
        </p:spPr>
        <p:txBody>
          <a:bodyPr lIns="91440" tIns="45720" rIns="91440" bIns="0" anchor="b" anchorCtr="0"/>
          <a:lstStyle>
            <a:lvl1pPr algn="l">
              <a:defRPr sz="2800" b="1" spc="600" baseline="0">
                <a:latin typeface="Arial" panose="020B0604020202020204" pitchFamily="34" charset="0"/>
              </a:defRPr>
            </a:lvl1pPr>
          </a:lstStyle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</a:pPr>
            <a:r>
              <a:rPr lang="en-US" sz="4000" b="0" spc="150" dirty="0">
                <a:solidFill>
                  <a:srgbClr val="FF0000"/>
                </a:solidFill>
                <a:ea typeface="+mn-ea"/>
                <a:cs typeface="+mn-cs"/>
              </a:rPr>
              <a:t>XXXX</a:t>
            </a:r>
            <a:r>
              <a:rPr lang="zh-CN" altLang="en-US" sz="4000" b="0" spc="150" dirty="0">
                <a:solidFill>
                  <a:schemeClr val="accent1"/>
                </a:solidFill>
                <a:ea typeface="+mn-ea"/>
                <a:cs typeface="+mn-cs"/>
              </a:rPr>
              <a:t>视觉方案</a:t>
            </a:r>
            <a:r>
              <a:rPr lang="zh-CN" altLang="en-US" sz="4000" b="0" spc="150" dirty="0">
                <a:solidFill>
                  <a:schemeClr val="accent1"/>
                </a:solidFill>
                <a:ea typeface="+mn-ea"/>
                <a:cs typeface="+mn-cs"/>
              </a:rPr>
              <a:t>书</a:t>
            </a:r>
            <a:endParaRPr lang="zh-CN" altLang="en-US" sz="4000" b="0" spc="150" dirty="0">
              <a:solidFill>
                <a:schemeClr val="accent1"/>
              </a:solidFill>
              <a:ea typeface="+mn-ea"/>
              <a:cs typeface="+mn-cs"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3540125" y="3194685"/>
            <a:ext cx="5024755" cy="2388870"/>
          </a:xfrm>
        </p:spPr>
        <p:txBody>
          <a:bodyPr lIns="91440" tIns="0" rIns="91440" bIns="45720">
            <a:noAutofit/>
          </a:bodyPr>
          <a:lstStyle>
            <a:lvl1pPr marL="0" indent="0" algn="l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algn="l">
              <a:lnSpc>
                <a:spcPct val="130000"/>
              </a:lnSpc>
              <a:buClrTx/>
              <a:buSzTx/>
            </a:pPr>
            <a:r>
              <a:rPr lang="zh-CN" altLang="en-US" sz="1600" spc="150" dirty="0">
                <a:solidFill>
                  <a:schemeClr val="accent1"/>
                </a:solidFill>
              </a:rPr>
              <a:t>客户名称：</a:t>
            </a:r>
            <a:r>
              <a:rPr lang="en-US" altLang="zh-CN" sz="1600" spc="150" dirty="0">
                <a:solidFill>
                  <a:srgbClr val="FF0000"/>
                </a:solidFill>
              </a:rPr>
              <a:t>(</a:t>
            </a:r>
            <a:r>
              <a:rPr lang="zh-CN" altLang="en-US" sz="1600" spc="150" dirty="0">
                <a:solidFill>
                  <a:srgbClr val="FF0000"/>
                </a:solidFill>
              </a:rPr>
              <a:t>此处填写完整的客户名称</a:t>
            </a:r>
            <a:r>
              <a:rPr lang="en-US" altLang="zh-CN" sz="1600" spc="150" dirty="0">
                <a:solidFill>
                  <a:srgbClr val="FF0000"/>
                </a:solidFill>
              </a:rPr>
              <a:t>)</a:t>
            </a:r>
            <a:endParaRPr lang="zh-CN" altLang="en-US" sz="1600" spc="150" dirty="0">
              <a:solidFill>
                <a:schemeClr val="accent1"/>
              </a:solidFill>
            </a:endParaRPr>
          </a:p>
          <a:p>
            <a:pPr algn="l">
              <a:lnSpc>
                <a:spcPct val="130000"/>
              </a:lnSpc>
              <a:buClrTx/>
              <a:buSzTx/>
            </a:pPr>
            <a:r>
              <a:rPr lang="zh-CN" altLang="en-US" sz="1600" spc="150" dirty="0">
                <a:solidFill>
                  <a:schemeClr val="accent1"/>
                </a:solidFill>
              </a:rPr>
              <a:t>技术窗口：</a:t>
            </a:r>
            <a:r>
              <a:rPr lang="zh-CN" altLang="en-US" sz="1600" spc="150" dirty="0">
                <a:solidFill>
                  <a:srgbClr val="FF0000"/>
                </a:solidFill>
              </a:rPr>
              <a:t>（打光测试谁做的写谁）</a:t>
            </a:r>
            <a:endParaRPr lang="zh-CN" altLang="en-US" sz="1600" spc="150" dirty="0">
              <a:solidFill>
                <a:schemeClr val="accent1"/>
              </a:solidFill>
            </a:endParaRPr>
          </a:p>
          <a:p>
            <a:pPr algn="l">
              <a:lnSpc>
                <a:spcPct val="130000"/>
              </a:lnSpc>
              <a:buClrTx/>
              <a:buSzTx/>
            </a:pPr>
            <a:r>
              <a:rPr lang="zh-CN" altLang="en-US" sz="1600" spc="150" dirty="0">
                <a:solidFill>
                  <a:schemeClr val="accent1"/>
                </a:solidFill>
              </a:rPr>
              <a:t>营业窗口：</a:t>
            </a:r>
            <a:r>
              <a:rPr lang="zh-CN" altLang="en-US" sz="1600" spc="150" dirty="0">
                <a:solidFill>
                  <a:schemeClr val="accent1"/>
                </a:solidFill>
              </a:rPr>
              <a:t>刘志民</a:t>
            </a:r>
            <a:endParaRPr lang="zh-CN" altLang="en-US" sz="1600" spc="150" dirty="0">
              <a:solidFill>
                <a:schemeClr val="accent1"/>
              </a:solidFill>
            </a:endParaRPr>
          </a:p>
          <a:p>
            <a:pPr algn="l">
              <a:lnSpc>
                <a:spcPct val="130000"/>
              </a:lnSpc>
              <a:buClrTx/>
              <a:buSzTx/>
            </a:pPr>
            <a:r>
              <a:rPr lang="zh-CN" altLang="en-US" sz="1600" spc="150" dirty="0">
                <a:solidFill>
                  <a:schemeClr val="accent1"/>
                </a:solidFill>
              </a:rPr>
              <a:t>营业电话：</a:t>
            </a:r>
            <a:r>
              <a:rPr lang="en-US" sz="1600" spc="150" dirty="0">
                <a:solidFill>
                  <a:schemeClr val="accent1"/>
                </a:solidFill>
              </a:rPr>
              <a:t>18929323022</a:t>
            </a:r>
            <a:endParaRPr lang="en-US" sz="1600" spc="150" dirty="0">
              <a:solidFill>
                <a:schemeClr val="accent1"/>
              </a:solidFill>
            </a:endParaRPr>
          </a:p>
          <a:p>
            <a:pPr algn="l">
              <a:lnSpc>
                <a:spcPct val="130000"/>
              </a:lnSpc>
              <a:buClrTx/>
              <a:buSzTx/>
            </a:pPr>
            <a:r>
              <a:rPr lang="zh-CN" altLang="en-US" sz="1600" spc="150" dirty="0">
                <a:solidFill>
                  <a:schemeClr val="accent1"/>
                </a:solidFill>
                <a:sym typeface="+mn-ea"/>
              </a:rPr>
              <a:t>汇报时间:</a:t>
            </a:r>
            <a:r>
              <a:rPr lang="en-US" altLang="zh-CN" sz="1600" spc="150" dirty="0">
                <a:solidFill>
                  <a:schemeClr val="accent1"/>
                </a:solidFill>
                <a:sym typeface="+mn-ea"/>
              </a:rPr>
              <a:t>  2024.03.18</a:t>
            </a:r>
            <a:endParaRPr lang="zh-CN" altLang="en-US" sz="1600" spc="150" dirty="0">
              <a:solidFill>
                <a:schemeClr val="accent1"/>
              </a:solidFill>
            </a:endParaRPr>
          </a:p>
          <a:p>
            <a:endParaRPr lang="zh-CN" altLang="en-US" sz="1600" spc="150" dirty="0">
              <a:solidFill>
                <a:schemeClr val="accent1"/>
              </a:solidFill>
            </a:endParaRPr>
          </a:p>
        </p:txBody>
      </p:sp>
      <p:sp>
        <p:nvSpPr>
          <p:cNvPr id="9" name="文本框 8"/>
          <p:cNvSpPr txBox="1"/>
          <p:nvPr userDrawn="1"/>
        </p:nvSpPr>
        <p:spPr>
          <a:xfrm>
            <a:off x="0" y="0"/>
            <a:ext cx="406400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4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YD Vision</a:t>
            </a:r>
            <a:endParaRPr lang="en-US" altLang="zh-CN" sz="4400" b="1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0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服务好，才是真的好</a:t>
            </a:r>
            <a:endParaRPr lang="zh-CN" altLang="en-US" sz="2000" b="1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2477510" y="2147311"/>
            <a:ext cx="7237036" cy="2055009"/>
            <a:chOff x="1068" y="4512"/>
            <a:chExt cx="11397" cy="3236"/>
          </a:xfrm>
        </p:grpSpPr>
        <p:grpSp>
          <p:nvGrpSpPr>
            <p:cNvPr id="8" name="组合 7"/>
            <p:cNvGrpSpPr/>
            <p:nvPr userDrawn="1"/>
          </p:nvGrpSpPr>
          <p:grpSpPr>
            <a:xfrm>
              <a:off x="1348" y="4512"/>
              <a:ext cx="1608" cy="1608"/>
              <a:chOff x="1644206" y="2323002"/>
              <a:chExt cx="1495425" cy="1495425"/>
            </a:xfrm>
          </p:grpSpPr>
          <p:sp>
            <p:nvSpPr>
              <p:cNvPr id="9" name="椭圆 8"/>
              <p:cNvSpPr/>
              <p:nvPr/>
            </p:nvSpPr>
            <p:spPr>
              <a:xfrm>
                <a:off x="1644206" y="2323002"/>
                <a:ext cx="1495425" cy="1495425"/>
              </a:xfrm>
              <a:prstGeom prst="ellipse">
                <a:avLst/>
              </a:prstGeom>
              <a:noFill/>
              <a:ln>
                <a:solidFill>
                  <a:srgbClr val="595959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pic>
            <p:nvPicPr>
              <p:cNvPr id="10" name="图片 9"/>
              <p:cNvPicPr>
                <a:picLocks noChangeAspect="1"/>
              </p:cNvPicPr>
              <p:nvPr/>
            </p:nvPicPr>
            <p:blipFill>
              <a:blip r:embed="rId1" cstate="print">
                <a:duotone>
                  <a:prstClr val="black"/>
                  <a:srgbClr val="D9C3A5">
                    <a:tint val="50000"/>
                    <a:satMod val="180000"/>
                  </a:srgb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57685" y="2835431"/>
                <a:ext cx="789702" cy="566096"/>
              </a:xfrm>
              <a:prstGeom prst="rect">
                <a:avLst/>
              </a:prstGeom>
              <a:ln w="19050">
                <a:noFill/>
              </a:ln>
            </p:spPr>
          </p:pic>
        </p:grpSp>
        <p:sp>
          <p:nvSpPr>
            <p:cNvPr id="11" name="文本框 10"/>
            <p:cNvSpPr txBox="1"/>
            <p:nvPr userDrawn="1"/>
          </p:nvSpPr>
          <p:spPr>
            <a:xfrm>
              <a:off x="3754" y="6371"/>
              <a:ext cx="2435" cy="10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lnSpc>
                  <a:spcPct val="150000"/>
                </a:lnSpc>
                <a:defRPr/>
              </a:pPr>
              <a:r>
                <a:rPr lang="zh-CN" altLang="en-US" spc="400" dirty="0">
                  <a:solidFill>
                    <a:srgbClr val="595959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方案解析</a:t>
              </a:r>
              <a:endParaRPr lang="en-US" altLang="zh-CN" spc="400" dirty="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  <a:p>
              <a:pPr algn="ctr">
                <a:lnSpc>
                  <a:spcPct val="150000"/>
                </a:lnSpc>
                <a:defRPr/>
              </a:pPr>
              <a:r>
                <a:rPr lang="en-US" altLang="zh-CN" sz="900" spc="50" dirty="0">
                  <a:solidFill>
                    <a:srgbClr val="595959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SOLUTION ANALYSIS</a:t>
              </a:r>
              <a:endParaRPr lang="zh-CN" altLang="en-US" sz="900" spc="50" dirty="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grpSp>
          <p:nvGrpSpPr>
            <p:cNvPr id="12" name="组合 11"/>
            <p:cNvGrpSpPr/>
            <p:nvPr userDrawn="1"/>
          </p:nvGrpSpPr>
          <p:grpSpPr>
            <a:xfrm>
              <a:off x="4286" y="4518"/>
              <a:ext cx="1608" cy="1608"/>
              <a:chOff x="4112234" y="2323002"/>
              <a:chExt cx="1495425" cy="1495425"/>
            </a:xfrm>
          </p:grpSpPr>
          <p:sp>
            <p:nvSpPr>
              <p:cNvPr id="13" name="椭圆 12"/>
              <p:cNvSpPr/>
              <p:nvPr/>
            </p:nvSpPr>
            <p:spPr>
              <a:xfrm>
                <a:off x="4112234" y="2323002"/>
                <a:ext cx="1495425" cy="1495425"/>
              </a:xfrm>
              <a:prstGeom prst="ellipse">
                <a:avLst/>
              </a:prstGeom>
              <a:noFill/>
              <a:ln>
                <a:solidFill>
                  <a:srgbClr val="595959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4" name="analytics_345489"/>
              <p:cNvSpPr>
                <a:spLocks noChangeAspect="1"/>
              </p:cNvSpPr>
              <p:nvPr/>
            </p:nvSpPr>
            <p:spPr bwMode="auto">
              <a:xfrm>
                <a:off x="4534989" y="2755533"/>
                <a:ext cx="715114" cy="713944"/>
              </a:xfrm>
              <a:custGeom>
                <a:avLst/>
                <a:gdLst>
                  <a:gd name="connsiteX0" fmla="*/ 140058 w 608466"/>
                  <a:gd name="connsiteY0" fmla="*/ 391328 h 607471"/>
                  <a:gd name="connsiteX1" fmla="*/ 183230 w 608466"/>
                  <a:gd name="connsiteY1" fmla="*/ 434344 h 607471"/>
                  <a:gd name="connsiteX2" fmla="*/ 216467 w 608466"/>
                  <a:gd name="connsiteY2" fmla="*/ 467532 h 607471"/>
                  <a:gd name="connsiteX3" fmla="*/ 78226 w 608466"/>
                  <a:gd name="connsiteY3" fmla="*/ 605572 h 607471"/>
                  <a:gd name="connsiteX4" fmla="*/ 33941 w 608466"/>
                  <a:gd name="connsiteY4" fmla="*/ 583415 h 607471"/>
                  <a:gd name="connsiteX5" fmla="*/ 1910 w 608466"/>
                  <a:gd name="connsiteY5" fmla="*/ 529275 h 607471"/>
                  <a:gd name="connsiteX6" fmla="*/ 338845 w 608466"/>
                  <a:gd name="connsiteY6" fmla="*/ 166372 h 607471"/>
                  <a:gd name="connsiteX7" fmla="*/ 313032 w 608466"/>
                  <a:gd name="connsiteY7" fmla="*/ 210126 h 607471"/>
                  <a:gd name="connsiteX8" fmla="*/ 304583 w 608466"/>
                  <a:gd name="connsiteY8" fmla="*/ 215039 h 607471"/>
                  <a:gd name="connsiteX9" fmla="*/ 245621 w 608466"/>
                  <a:gd name="connsiteY9" fmla="*/ 215039 h 607471"/>
                  <a:gd name="connsiteX10" fmla="*/ 291026 w 608466"/>
                  <a:gd name="connsiteY10" fmla="*/ 316915 h 607471"/>
                  <a:gd name="connsiteX11" fmla="*/ 512666 w 608466"/>
                  <a:gd name="connsiteY11" fmla="*/ 316915 h 607471"/>
                  <a:gd name="connsiteX12" fmla="*/ 558164 w 608466"/>
                  <a:gd name="connsiteY12" fmla="*/ 215039 h 607471"/>
                  <a:gd name="connsiteX13" fmla="*/ 440055 w 608466"/>
                  <a:gd name="connsiteY13" fmla="*/ 215039 h 607471"/>
                  <a:gd name="connsiteX14" fmla="*/ 430770 w 608466"/>
                  <a:gd name="connsiteY14" fmla="*/ 208179 h 607471"/>
                  <a:gd name="connsiteX15" fmla="*/ 426963 w 608466"/>
                  <a:gd name="connsiteY15" fmla="*/ 196406 h 607471"/>
                  <a:gd name="connsiteX16" fmla="*/ 399478 w 608466"/>
                  <a:gd name="connsiteY16" fmla="*/ 308387 h 607471"/>
                  <a:gd name="connsiteX17" fmla="*/ 390193 w 608466"/>
                  <a:gd name="connsiteY17" fmla="*/ 315896 h 607471"/>
                  <a:gd name="connsiteX18" fmla="*/ 389914 w 608466"/>
                  <a:gd name="connsiteY18" fmla="*/ 315896 h 607471"/>
                  <a:gd name="connsiteX19" fmla="*/ 380536 w 608466"/>
                  <a:gd name="connsiteY19" fmla="*/ 308850 h 607471"/>
                  <a:gd name="connsiteX20" fmla="*/ 401846 w 608466"/>
                  <a:gd name="connsiteY20" fmla="*/ 49802 h 607471"/>
                  <a:gd name="connsiteX21" fmla="*/ 291026 w 608466"/>
                  <a:gd name="connsiteY21" fmla="*/ 95550 h 607471"/>
                  <a:gd name="connsiteX22" fmla="*/ 245714 w 608466"/>
                  <a:gd name="connsiteY22" fmla="*/ 195387 h 607471"/>
                  <a:gd name="connsiteX23" fmla="*/ 299011 w 608466"/>
                  <a:gd name="connsiteY23" fmla="*/ 195387 h 607471"/>
                  <a:gd name="connsiteX24" fmla="*/ 333367 w 608466"/>
                  <a:gd name="connsiteY24" fmla="*/ 136893 h 607471"/>
                  <a:gd name="connsiteX25" fmla="*/ 343024 w 608466"/>
                  <a:gd name="connsiteY25" fmla="*/ 132166 h 607471"/>
                  <a:gd name="connsiteX26" fmla="*/ 351287 w 608466"/>
                  <a:gd name="connsiteY26" fmla="*/ 139118 h 607471"/>
                  <a:gd name="connsiteX27" fmla="*/ 389079 w 608466"/>
                  <a:gd name="connsiteY27" fmla="*/ 268341 h 607471"/>
                  <a:gd name="connsiteX28" fmla="*/ 416192 w 608466"/>
                  <a:gd name="connsiteY28" fmla="*/ 157936 h 607471"/>
                  <a:gd name="connsiteX29" fmla="*/ 425384 w 608466"/>
                  <a:gd name="connsiteY29" fmla="*/ 150520 h 607471"/>
                  <a:gd name="connsiteX30" fmla="*/ 435041 w 608466"/>
                  <a:gd name="connsiteY30" fmla="*/ 157287 h 607471"/>
                  <a:gd name="connsiteX31" fmla="*/ 447297 w 608466"/>
                  <a:gd name="connsiteY31" fmla="*/ 195387 h 607471"/>
                  <a:gd name="connsiteX32" fmla="*/ 558071 w 608466"/>
                  <a:gd name="connsiteY32" fmla="*/ 195387 h 607471"/>
                  <a:gd name="connsiteX33" fmla="*/ 512666 w 608466"/>
                  <a:gd name="connsiteY33" fmla="*/ 95550 h 607471"/>
                  <a:gd name="connsiteX34" fmla="*/ 401846 w 608466"/>
                  <a:gd name="connsiteY34" fmla="*/ 49802 h 607471"/>
                  <a:gd name="connsiteX35" fmla="*/ 401846 w 608466"/>
                  <a:gd name="connsiteY35" fmla="*/ 0 h 607471"/>
                  <a:gd name="connsiteX36" fmla="*/ 547950 w 608466"/>
                  <a:gd name="connsiteY36" fmla="*/ 60417 h 607471"/>
                  <a:gd name="connsiteX37" fmla="*/ 547950 w 608466"/>
                  <a:gd name="connsiteY37" fmla="*/ 352048 h 607471"/>
                  <a:gd name="connsiteX38" fmla="*/ 274684 w 608466"/>
                  <a:gd name="connsiteY38" fmla="*/ 368549 h 607471"/>
                  <a:gd name="connsiteX39" fmla="*/ 247757 w 608466"/>
                  <a:gd name="connsiteY39" fmla="*/ 395524 h 607471"/>
                  <a:gd name="connsiteX40" fmla="*/ 258899 w 608466"/>
                  <a:gd name="connsiteY40" fmla="*/ 425281 h 607471"/>
                  <a:gd name="connsiteX41" fmla="*/ 236057 w 608466"/>
                  <a:gd name="connsiteY41" fmla="*/ 447992 h 607471"/>
                  <a:gd name="connsiteX42" fmla="*/ 159732 w 608466"/>
                  <a:gd name="connsiteY42" fmla="*/ 371700 h 607471"/>
                  <a:gd name="connsiteX43" fmla="*/ 182481 w 608466"/>
                  <a:gd name="connsiteY43" fmla="*/ 348989 h 607471"/>
                  <a:gd name="connsiteX44" fmla="*/ 212194 w 608466"/>
                  <a:gd name="connsiteY44" fmla="*/ 360113 h 607471"/>
                  <a:gd name="connsiteX45" fmla="*/ 239214 w 608466"/>
                  <a:gd name="connsiteY45" fmla="*/ 333138 h 607471"/>
                  <a:gd name="connsiteX46" fmla="*/ 255742 w 608466"/>
                  <a:gd name="connsiteY46" fmla="*/ 60417 h 607471"/>
                  <a:gd name="connsiteX47" fmla="*/ 401846 w 608466"/>
                  <a:gd name="connsiteY47" fmla="*/ 0 h 6074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608466" h="607471">
                    <a:moveTo>
                      <a:pt x="140058" y="391328"/>
                    </a:moveTo>
                    <a:lnTo>
                      <a:pt x="183230" y="434344"/>
                    </a:lnTo>
                    <a:lnTo>
                      <a:pt x="216467" y="467532"/>
                    </a:lnTo>
                    <a:lnTo>
                      <a:pt x="78226" y="605572"/>
                    </a:lnTo>
                    <a:cubicBezTo>
                      <a:pt x="71449" y="612339"/>
                      <a:pt x="51859" y="600102"/>
                      <a:pt x="33941" y="583415"/>
                    </a:cubicBezTo>
                    <a:cubicBezTo>
                      <a:pt x="12680" y="563576"/>
                      <a:pt x="-6167" y="537433"/>
                      <a:pt x="1910" y="529275"/>
                    </a:cubicBezTo>
                    <a:close/>
                    <a:moveTo>
                      <a:pt x="338845" y="166372"/>
                    </a:moveTo>
                    <a:lnTo>
                      <a:pt x="313032" y="210126"/>
                    </a:lnTo>
                    <a:cubicBezTo>
                      <a:pt x="311268" y="213185"/>
                      <a:pt x="308111" y="215039"/>
                      <a:pt x="304583" y="215039"/>
                    </a:cubicBezTo>
                    <a:lnTo>
                      <a:pt x="245621" y="215039"/>
                    </a:lnTo>
                    <a:cubicBezTo>
                      <a:pt x="247664" y="252118"/>
                      <a:pt x="262706" y="288642"/>
                      <a:pt x="291026" y="316915"/>
                    </a:cubicBezTo>
                    <a:cubicBezTo>
                      <a:pt x="352123" y="377911"/>
                      <a:pt x="451569" y="377911"/>
                      <a:pt x="512666" y="316915"/>
                    </a:cubicBezTo>
                    <a:cubicBezTo>
                      <a:pt x="541079" y="288642"/>
                      <a:pt x="556028" y="252118"/>
                      <a:pt x="558164" y="215039"/>
                    </a:cubicBezTo>
                    <a:lnTo>
                      <a:pt x="440055" y="215039"/>
                    </a:lnTo>
                    <a:cubicBezTo>
                      <a:pt x="435784" y="215039"/>
                      <a:pt x="432069" y="212258"/>
                      <a:pt x="430770" y="208179"/>
                    </a:cubicBezTo>
                    <a:lnTo>
                      <a:pt x="426963" y="196406"/>
                    </a:lnTo>
                    <a:lnTo>
                      <a:pt x="399478" y="308387"/>
                    </a:lnTo>
                    <a:cubicBezTo>
                      <a:pt x="398457" y="312744"/>
                      <a:pt x="394557" y="315803"/>
                      <a:pt x="390193" y="315896"/>
                    </a:cubicBezTo>
                    <a:lnTo>
                      <a:pt x="389914" y="315896"/>
                    </a:lnTo>
                    <a:cubicBezTo>
                      <a:pt x="385550" y="315896"/>
                      <a:pt x="381743" y="313022"/>
                      <a:pt x="380536" y="308850"/>
                    </a:cubicBezTo>
                    <a:close/>
                    <a:moveTo>
                      <a:pt x="401846" y="49802"/>
                    </a:moveTo>
                    <a:cubicBezTo>
                      <a:pt x="361710" y="49802"/>
                      <a:pt x="321575" y="65052"/>
                      <a:pt x="291026" y="95550"/>
                    </a:cubicBezTo>
                    <a:cubicBezTo>
                      <a:pt x="263170" y="123359"/>
                      <a:pt x="248221" y="159048"/>
                      <a:pt x="245714" y="195387"/>
                    </a:cubicBezTo>
                    <a:lnTo>
                      <a:pt x="299011" y="195387"/>
                    </a:lnTo>
                    <a:lnTo>
                      <a:pt x="333367" y="136893"/>
                    </a:lnTo>
                    <a:cubicBezTo>
                      <a:pt x="335317" y="133556"/>
                      <a:pt x="339124" y="131610"/>
                      <a:pt x="343024" y="132166"/>
                    </a:cubicBezTo>
                    <a:cubicBezTo>
                      <a:pt x="346923" y="132629"/>
                      <a:pt x="350173" y="135318"/>
                      <a:pt x="351287" y="139118"/>
                    </a:cubicBezTo>
                    <a:lnTo>
                      <a:pt x="389079" y="268341"/>
                    </a:lnTo>
                    <a:lnTo>
                      <a:pt x="416192" y="157936"/>
                    </a:lnTo>
                    <a:cubicBezTo>
                      <a:pt x="417213" y="153672"/>
                      <a:pt x="420927" y="150613"/>
                      <a:pt x="425384" y="150520"/>
                    </a:cubicBezTo>
                    <a:cubicBezTo>
                      <a:pt x="429748" y="150057"/>
                      <a:pt x="433741" y="153116"/>
                      <a:pt x="435041" y="157287"/>
                    </a:cubicBezTo>
                    <a:lnTo>
                      <a:pt x="447297" y="195387"/>
                    </a:lnTo>
                    <a:lnTo>
                      <a:pt x="558071" y="195387"/>
                    </a:lnTo>
                    <a:cubicBezTo>
                      <a:pt x="555564" y="159048"/>
                      <a:pt x="540522" y="123359"/>
                      <a:pt x="512666" y="95550"/>
                    </a:cubicBezTo>
                    <a:cubicBezTo>
                      <a:pt x="482117" y="65052"/>
                      <a:pt x="441982" y="49802"/>
                      <a:pt x="401846" y="49802"/>
                    </a:cubicBezTo>
                    <a:close/>
                    <a:moveTo>
                      <a:pt x="401846" y="0"/>
                    </a:moveTo>
                    <a:cubicBezTo>
                      <a:pt x="454726" y="0"/>
                      <a:pt x="507605" y="20139"/>
                      <a:pt x="547950" y="60417"/>
                    </a:cubicBezTo>
                    <a:cubicBezTo>
                      <a:pt x="628639" y="140972"/>
                      <a:pt x="628639" y="271493"/>
                      <a:pt x="547950" y="352048"/>
                    </a:cubicBezTo>
                    <a:cubicBezTo>
                      <a:pt x="473296" y="426579"/>
                      <a:pt x="355744" y="432048"/>
                      <a:pt x="274684" y="368549"/>
                    </a:cubicBezTo>
                    <a:lnTo>
                      <a:pt x="247757" y="395524"/>
                    </a:lnTo>
                    <a:cubicBezTo>
                      <a:pt x="257785" y="408595"/>
                      <a:pt x="263542" y="420553"/>
                      <a:pt x="258899" y="425281"/>
                    </a:cubicBezTo>
                    <a:lnTo>
                      <a:pt x="236057" y="447992"/>
                    </a:lnTo>
                    <a:lnTo>
                      <a:pt x="159732" y="371700"/>
                    </a:lnTo>
                    <a:lnTo>
                      <a:pt x="182481" y="348989"/>
                    </a:lnTo>
                    <a:cubicBezTo>
                      <a:pt x="187216" y="344262"/>
                      <a:pt x="199102" y="350009"/>
                      <a:pt x="212194" y="360113"/>
                    </a:cubicBezTo>
                    <a:lnTo>
                      <a:pt x="239214" y="333138"/>
                    </a:lnTo>
                    <a:cubicBezTo>
                      <a:pt x="175703" y="252211"/>
                      <a:pt x="181088" y="134947"/>
                      <a:pt x="255742" y="60417"/>
                    </a:cubicBezTo>
                    <a:cubicBezTo>
                      <a:pt x="296086" y="20139"/>
                      <a:pt x="348966" y="0"/>
                      <a:pt x="401846" y="0"/>
                    </a:cubicBezTo>
                    <a:close/>
                  </a:path>
                </a:pathLst>
              </a:custGeom>
              <a:solidFill>
                <a:srgbClr val="606060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15" name="文本框 14"/>
            <p:cNvSpPr txBox="1"/>
            <p:nvPr userDrawn="1"/>
          </p:nvSpPr>
          <p:spPr>
            <a:xfrm>
              <a:off x="6845" y="6403"/>
              <a:ext cx="2369" cy="10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lnSpc>
                  <a:spcPct val="150000"/>
                </a:lnSpc>
                <a:defRPr/>
              </a:pPr>
              <a:r>
                <a:rPr lang="zh-CN" altLang="en-US" spc="400" dirty="0">
                  <a:solidFill>
                    <a:srgbClr val="595959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物料清单</a:t>
              </a:r>
              <a:endParaRPr lang="en-US" altLang="zh-CN" spc="400" dirty="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  <a:p>
              <a:pPr lvl="0" algn="ctr">
                <a:lnSpc>
                  <a:spcPct val="150000"/>
                </a:lnSpc>
                <a:defRPr/>
              </a:pP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BOM DETAILED LIST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grpSp>
          <p:nvGrpSpPr>
            <p:cNvPr id="18" name="组合 17"/>
            <p:cNvGrpSpPr/>
            <p:nvPr userDrawn="1"/>
          </p:nvGrpSpPr>
          <p:grpSpPr>
            <a:xfrm>
              <a:off x="7225" y="4518"/>
              <a:ext cx="1608" cy="1608"/>
              <a:chOff x="4112234" y="2323002"/>
              <a:chExt cx="1495425" cy="1495425"/>
            </a:xfrm>
          </p:grpSpPr>
          <p:sp>
            <p:nvSpPr>
              <p:cNvPr id="19" name="椭圆 18"/>
              <p:cNvSpPr/>
              <p:nvPr/>
            </p:nvSpPr>
            <p:spPr>
              <a:xfrm>
                <a:off x="4112234" y="2323002"/>
                <a:ext cx="1495425" cy="1495425"/>
              </a:xfrm>
              <a:prstGeom prst="ellipse">
                <a:avLst/>
              </a:prstGeom>
              <a:noFill/>
              <a:ln>
                <a:solidFill>
                  <a:srgbClr val="595959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0" name="analytics_345489"/>
              <p:cNvSpPr>
                <a:spLocks noChangeAspect="1"/>
              </p:cNvSpPr>
              <p:nvPr/>
            </p:nvSpPr>
            <p:spPr bwMode="auto">
              <a:xfrm>
                <a:off x="4502389" y="2720128"/>
                <a:ext cx="715114" cy="701170"/>
              </a:xfrm>
              <a:custGeom>
                <a:avLst/>
                <a:gdLst>
                  <a:gd name="T0" fmla="*/ 1312 w 1990"/>
                  <a:gd name="T1" fmla="*/ 1552 h 1954"/>
                  <a:gd name="T2" fmla="*/ 291 w 1990"/>
                  <a:gd name="T3" fmla="*/ 1746 h 1954"/>
                  <a:gd name="T4" fmla="*/ 0 w 1990"/>
                  <a:gd name="T5" fmla="*/ 540 h 1954"/>
                  <a:gd name="T6" fmla="*/ 515 w 1990"/>
                  <a:gd name="T7" fmla="*/ 249 h 1954"/>
                  <a:gd name="T8" fmla="*/ 1205 w 1990"/>
                  <a:gd name="T9" fmla="*/ 0 h 1954"/>
                  <a:gd name="T10" fmla="*/ 1496 w 1990"/>
                  <a:gd name="T11" fmla="*/ 489 h 1954"/>
                  <a:gd name="T12" fmla="*/ 1413 w 1990"/>
                  <a:gd name="T13" fmla="*/ 291 h 1954"/>
                  <a:gd name="T14" fmla="*/ 802 w 1990"/>
                  <a:gd name="T15" fmla="*/ 83 h 1954"/>
                  <a:gd name="T16" fmla="*/ 1039 w 1990"/>
                  <a:gd name="T17" fmla="*/ 249 h 1954"/>
                  <a:gd name="T18" fmla="*/ 1243 w 1990"/>
                  <a:gd name="T19" fmla="*/ 499 h 1954"/>
                  <a:gd name="T20" fmla="*/ 291 w 1990"/>
                  <a:gd name="T21" fmla="*/ 333 h 1954"/>
                  <a:gd name="T22" fmla="*/ 83 w 1990"/>
                  <a:gd name="T23" fmla="*/ 1455 h 1954"/>
                  <a:gd name="T24" fmla="*/ 1039 w 1990"/>
                  <a:gd name="T25" fmla="*/ 1663 h 1954"/>
                  <a:gd name="T26" fmla="*/ 1641 w 1990"/>
                  <a:gd name="T27" fmla="*/ 1453 h 1954"/>
                  <a:gd name="T28" fmla="*/ 1138 w 1990"/>
                  <a:gd name="T29" fmla="*/ 583 h 1954"/>
                  <a:gd name="T30" fmla="*/ 1641 w 1990"/>
                  <a:gd name="T31" fmla="*/ 1453 h 1954"/>
                  <a:gd name="T32" fmla="*/ 1752 w 1990"/>
                  <a:gd name="T33" fmla="*/ 809 h 1954"/>
                  <a:gd name="T34" fmla="*/ 1026 w 1990"/>
                  <a:gd name="T35" fmla="*/ 1228 h 1954"/>
                  <a:gd name="T36" fmla="*/ 1767 w 1990"/>
                  <a:gd name="T37" fmla="*/ 1422 h 1954"/>
                  <a:gd name="T38" fmla="*/ 1717 w 1990"/>
                  <a:gd name="T39" fmla="*/ 1835 h 1954"/>
                  <a:gd name="T40" fmla="*/ 1767 w 1990"/>
                  <a:gd name="T41" fmla="*/ 1422 h 1954"/>
                  <a:gd name="T42" fmla="*/ 1739 w 1990"/>
                  <a:gd name="T43" fmla="*/ 1874 h 1954"/>
                  <a:gd name="T44" fmla="*/ 1956 w 1990"/>
                  <a:gd name="T45" fmla="*/ 1749 h 1954"/>
                  <a:gd name="T46" fmla="*/ 249 w 1990"/>
                  <a:gd name="T47" fmla="*/ 551 h 1954"/>
                  <a:gd name="T48" fmla="*/ 803 w 1990"/>
                  <a:gd name="T49" fmla="*/ 613 h 1954"/>
                  <a:gd name="T50" fmla="*/ 675 w 1990"/>
                  <a:gd name="T51" fmla="*/ 828 h 1954"/>
                  <a:gd name="T52" fmla="*/ 249 w 1990"/>
                  <a:gd name="T53" fmla="*/ 890 h 1954"/>
                  <a:gd name="T54" fmla="*/ 675 w 1990"/>
                  <a:gd name="T55" fmla="*/ 828 h 1954"/>
                  <a:gd name="T56" fmla="*/ 675 w 1990"/>
                  <a:gd name="T57" fmla="*/ 1167 h 1954"/>
                  <a:gd name="T58" fmla="*/ 249 w 1990"/>
                  <a:gd name="T59" fmla="*/ 1105 h 1954"/>
                  <a:gd name="T60" fmla="*/ 249 w 1990"/>
                  <a:gd name="T61" fmla="*/ 1444 h 1954"/>
                  <a:gd name="T62" fmla="*/ 803 w 1990"/>
                  <a:gd name="T63" fmla="*/ 1382 h 1954"/>
                  <a:gd name="T64" fmla="*/ 249 w 1990"/>
                  <a:gd name="T65" fmla="*/ 1444 h 1954"/>
                  <a:gd name="T66" fmla="*/ 1179 w 1990"/>
                  <a:gd name="T67" fmla="*/ 961 h 1954"/>
                  <a:gd name="T68" fmla="*/ 1300 w 1990"/>
                  <a:gd name="T69" fmla="*/ 1219 h 1954"/>
                  <a:gd name="T70" fmla="*/ 1604 w 1990"/>
                  <a:gd name="T71" fmla="*/ 858 h 19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990" h="1954">
                    <a:moveTo>
                      <a:pt x="1231" y="1534"/>
                    </a:moveTo>
                    <a:cubicBezTo>
                      <a:pt x="1258" y="1542"/>
                      <a:pt x="1285" y="1548"/>
                      <a:pt x="1312" y="1552"/>
                    </a:cubicBezTo>
                    <a:cubicBezTo>
                      <a:pt x="1272" y="1665"/>
                      <a:pt x="1165" y="1746"/>
                      <a:pt x="1039" y="1746"/>
                    </a:cubicBezTo>
                    <a:lnTo>
                      <a:pt x="291" y="1746"/>
                    </a:lnTo>
                    <a:cubicBezTo>
                      <a:pt x="131" y="1746"/>
                      <a:pt x="0" y="1615"/>
                      <a:pt x="0" y="1455"/>
                    </a:cubicBezTo>
                    <a:lnTo>
                      <a:pt x="0" y="540"/>
                    </a:lnTo>
                    <a:cubicBezTo>
                      <a:pt x="0" y="380"/>
                      <a:pt x="131" y="249"/>
                      <a:pt x="291" y="249"/>
                    </a:cubicBezTo>
                    <a:lnTo>
                      <a:pt x="515" y="249"/>
                    </a:lnTo>
                    <a:cubicBezTo>
                      <a:pt x="535" y="109"/>
                      <a:pt x="656" y="0"/>
                      <a:pt x="802" y="0"/>
                    </a:cubicBezTo>
                    <a:lnTo>
                      <a:pt x="1205" y="0"/>
                    </a:lnTo>
                    <a:cubicBezTo>
                      <a:pt x="1366" y="0"/>
                      <a:pt x="1496" y="131"/>
                      <a:pt x="1496" y="291"/>
                    </a:cubicBezTo>
                    <a:lnTo>
                      <a:pt x="1496" y="489"/>
                    </a:lnTo>
                    <a:cubicBezTo>
                      <a:pt x="1469" y="484"/>
                      <a:pt x="1441" y="480"/>
                      <a:pt x="1413" y="479"/>
                    </a:cubicBezTo>
                    <a:lnTo>
                      <a:pt x="1413" y="291"/>
                    </a:lnTo>
                    <a:cubicBezTo>
                      <a:pt x="1413" y="176"/>
                      <a:pt x="1320" y="83"/>
                      <a:pt x="1205" y="83"/>
                    </a:cubicBezTo>
                    <a:lnTo>
                      <a:pt x="802" y="83"/>
                    </a:lnTo>
                    <a:cubicBezTo>
                      <a:pt x="701" y="83"/>
                      <a:pt x="617" y="155"/>
                      <a:pt x="598" y="249"/>
                    </a:cubicBezTo>
                    <a:lnTo>
                      <a:pt x="1039" y="249"/>
                    </a:lnTo>
                    <a:cubicBezTo>
                      <a:pt x="1180" y="249"/>
                      <a:pt x="1297" y="349"/>
                      <a:pt x="1324" y="482"/>
                    </a:cubicBezTo>
                    <a:cubicBezTo>
                      <a:pt x="1297" y="485"/>
                      <a:pt x="1270" y="491"/>
                      <a:pt x="1243" y="499"/>
                    </a:cubicBezTo>
                    <a:cubicBezTo>
                      <a:pt x="1224" y="404"/>
                      <a:pt x="1140" y="333"/>
                      <a:pt x="1039" y="333"/>
                    </a:cubicBezTo>
                    <a:lnTo>
                      <a:pt x="291" y="333"/>
                    </a:lnTo>
                    <a:cubicBezTo>
                      <a:pt x="177" y="333"/>
                      <a:pt x="83" y="426"/>
                      <a:pt x="83" y="540"/>
                    </a:cubicBezTo>
                    <a:lnTo>
                      <a:pt x="83" y="1455"/>
                    </a:lnTo>
                    <a:cubicBezTo>
                      <a:pt x="83" y="1569"/>
                      <a:pt x="177" y="1663"/>
                      <a:pt x="291" y="1663"/>
                    </a:cubicBezTo>
                    <a:lnTo>
                      <a:pt x="1039" y="1663"/>
                    </a:lnTo>
                    <a:cubicBezTo>
                      <a:pt x="1126" y="1663"/>
                      <a:pt x="1200" y="1609"/>
                      <a:pt x="1231" y="1534"/>
                    </a:cubicBezTo>
                    <a:close/>
                    <a:moveTo>
                      <a:pt x="1641" y="1453"/>
                    </a:moveTo>
                    <a:cubicBezTo>
                      <a:pt x="1401" y="1591"/>
                      <a:pt x="1093" y="1509"/>
                      <a:pt x="955" y="1269"/>
                    </a:cubicBezTo>
                    <a:cubicBezTo>
                      <a:pt x="816" y="1029"/>
                      <a:pt x="899" y="722"/>
                      <a:pt x="1138" y="583"/>
                    </a:cubicBezTo>
                    <a:cubicBezTo>
                      <a:pt x="1378" y="445"/>
                      <a:pt x="1686" y="527"/>
                      <a:pt x="1824" y="767"/>
                    </a:cubicBezTo>
                    <a:cubicBezTo>
                      <a:pt x="1963" y="1007"/>
                      <a:pt x="1880" y="1314"/>
                      <a:pt x="1641" y="1453"/>
                    </a:cubicBezTo>
                    <a:close/>
                    <a:moveTo>
                      <a:pt x="1599" y="1381"/>
                    </a:moveTo>
                    <a:cubicBezTo>
                      <a:pt x="1799" y="1266"/>
                      <a:pt x="1868" y="1009"/>
                      <a:pt x="1752" y="809"/>
                    </a:cubicBezTo>
                    <a:cubicBezTo>
                      <a:pt x="1637" y="608"/>
                      <a:pt x="1380" y="539"/>
                      <a:pt x="1180" y="655"/>
                    </a:cubicBezTo>
                    <a:cubicBezTo>
                      <a:pt x="980" y="771"/>
                      <a:pt x="911" y="1027"/>
                      <a:pt x="1026" y="1228"/>
                    </a:cubicBezTo>
                    <a:cubicBezTo>
                      <a:pt x="1142" y="1428"/>
                      <a:pt x="1399" y="1497"/>
                      <a:pt x="1599" y="1381"/>
                    </a:cubicBezTo>
                    <a:close/>
                    <a:moveTo>
                      <a:pt x="1767" y="1422"/>
                    </a:moveTo>
                    <a:lnTo>
                      <a:pt x="1551" y="1547"/>
                    </a:lnTo>
                    <a:lnTo>
                      <a:pt x="1717" y="1835"/>
                    </a:lnTo>
                    <a:lnTo>
                      <a:pt x="1933" y="1710"/>
                    </a:lnTo>
                    <a:lnTo>
                      <a:pt x="1767" y="1422"/>
                    </a:lnTo>
                    <a:close/>
                    <a:moveTo>
                      <a:pt x="1956" y="1749"/>
                    </a:moveTo>
                    <a:lnTo>
                      <a:pt x="1739" y="1874"/>
                    </a:lnTo>
                    <a:cubicBezTo>
                      <a:pt x="1774" y="1934"/>
                      <a:pt x="1850" y="1954"/>
                      <a:pt x="1910" y="1919"/>
                    </a:cubicBezTo>
                    <a:cubicBezTo>
                      <a:pt x="1969" y="1885"/>
                      <a:pt x="1990" y="1809"/>
                      <a:pt x="1956" y="1749"/>
                    </a:cubicBezTo>
                    <a:close/>
                    <a:moveTo>
                      <a:pt x="803" y="551"/>
                    </a:moveTo>
                    <a:lnTo>
                      <a:pt x="249" y="551"/>
                    </a:lnTo>
                    <a:lnTo>
                      <a:pt x="249" y="613"/>
                    </a:lnTo>
                    <a:lnTo>
                      <a:pt x="803" y="613"/>
                    </a:lnTo>
                    <a:lnTo>
                      <a:pt x="803" y="551"/>
                    </a:lnTo>
                    <a:close/>
                    <a:moveTo>
                      <a:pt x="675" y="828"/>
                    </a:moveTo>
                    <a:lnTo>
                      <a:pt x="249" y="828"/>
                    </a:lnTo>
                    <a:lnTo>
                      <a:pt x="249" y="890"/>
                    </a:lnTo>
                    <a:lnTo>
                      <a:pt x="675" y="890"/>
                    </a:lnTo>
                    <a:lnTo>
                      <a:pt x="675" y="828"/>
                    </a:lnTo>
                    <a:close/>
                    <a:moveTo>
                      <a:pt x="249" y="1167"/>
                    </a:moveTo>
                    <a:lnTo>
                      <a:pt x="675" y="1167"/>
                    </a:lnTo>
                    <a:lnTo>
                      <a:pt x="675" y="1105"/>
                    </a:lnTo>
                    <a:lnTo>
                      <a:pt x="249" y="1105"/>
                    </a:lnTo>
                    <a:lnTo>
                      <a:pt x="249" y="1167"/>
                    </a:lnTo>
                    <a:close/>
                    <a:moveTo>
                      <a:pt x="249" y="1444"/>
                    </a:moveTo>
                    <a:lnTo>
                      <a:pt x="803" y="1444"/>
                    </a:lnTo>
                    <a:lnTo>
                      <a:pt x="803" y="1382"/>
                    </a:lnTo>
                    <a:lnTo>
                      <a:pt x="249" y="1382"/>
                    </a:lnTo>
                    <a:lnTo>
                      <a:pt x="249" y="1444"/>
                    </a:lnTo>
                    <a:close/>
                    <a:moveTo>
                      <a:pt x="1308" y="1105"/>
                    </a:moveTo>
                    <a:lnTo>
                      <a:pt x="1179" y="961"/>
                    </a:lnTo>
                    <a:lnTo>
                      <a:pt x="1118" y="1017"/>
                    </a:lnTo>
                    <a:lnTo>
                      <a:pt x="1300" y="1219"/>
                    </a:lnTo>
                    <a:lnTo>
                      <a:pt x="1657" y="922"/>
                    </a:lnTo>
                    <a:lnTo>
                      <a:pt x="1604" y="858"/>
                    </a:lnTo>
                    <a:lnTo>
                      <a:pt x="1308" y="1105"/>
                    </a:lnTo>
                    <a:close/>
                  </a:path>
                </a:pathLst>
              </a:custGeom>
              <a:solidFill>
                <a:srgbClr val="606060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 dirty="0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21" name="文本框 20"/>
            <p:cNvSpPr txBox="1"/>
            <p:nvPr userDrawn="1"/>
          </p:nvSpPr>
          <p:spPr>
            <a:xfrm>
              <a:off x="9698" y="6403"/>
              <a:ext cx="2767" cy="13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lnSpc>
                  <a:spcPct val="150000"/>
                </a:lnSpc>
                <a:defRPr/>
              </a:pPr>
              <a:r>
                <a:rPr lang="zh-CN" altLang="en-US" spc="400" dirty="0">
                  <a:solidFill>
                    <a:srgbClr val="595959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二维尺寸图</a:t>
              </a:r>
              <a:endParaRPr lang="en-US" altLang="zh-CN" spc="400" dirty="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  <a:p>
              <a:pPr algn="ctr">
                <a:lnSpc>
                  <a:spcPct val="150000"/>
                </a:lnSpc>
              </a:pPr>
              <a:r>
                <a:rPr lang="en-US" altLang="zh-CN" sz="900" dirty="0">
                  <a:solidFill>
                    <a:srgbClr val="595959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TWO-DIMENSIONAL </a:t>
              </a:r>
              <a:endParaRPr lang="en-US" altLang="zh-CN" sz="900" dirty="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  <a:p>
              <a:pPr algn="ctr"/>
              <a:r>
                <a:rPr lang="en-US" altLang="zh-CN" sz="900" dirty="0">
                  <a:solidFill>
                    <a:srgbClr val="595959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SIZE DIAGRAM</a:t>
              </a:r>
              <a:endParaRPr lang="zh-CN" altLang="en-US" sz="900" dirty="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grpSp>
          <p:nvGrpSpPr>
            <p:cNvPr id="22" name="组合 21"/>
            <p:cNvGrpSpPr/>
            <p:nvPr userDrawn="1"/>
          </p:nvGrpSpPr>
          <p:grpSpPr>
            <a:xfrm>
              <a:off x="10164" y="4518"/>
              <a:ext cx="1608" cy="1608"/>
              <a:chOff x="6580262" y="2323002"/>
              <a:chExt cx="1495425" cy="1495425"/>
            </a:xfrm>
          </p:grpSpPr>
          <p:sp>
            <p:nvSpPr>
              <p:cNvPr id="23" name="椭圆 22"/>
              <p:cNvSpPr/>
              <p:nvPr/>
            </p:nvSpPr>
            <p:spPr>
              <a:xfrm>
                <a:off x="6580262" y="2323002"/>
                <a:ext cx="1495425" cy="1495425"/>
              </a:xfrm>
              <a:prstGeom prst="ellipse">
                <a:avLst/>
              </a:prstGeom>
              <a:noFill/>
              <a:ln>
                <a:solidFill>
                  <a:srgbClr val="595959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pic>
            <p:nvPicPr>
              <p:cNvPr id="25" name="图片 24"/>
              <p:cNvPicPr>
                <a:picLocks noChangeAspect="1"/>
              </p:cNvPicPr>
              <p:nvPr/>
            </p:nvPicPr>
            <p:blipFill>
              <a:blip r:embed="rId2" cstate="hq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98598" y="2722669"/>
                <a:ext cx="685583" cy="685583"/>
              </a:xfrm>
              <a:prstGeom prst="rect">
                <a:avLst/>
              </a:prstGeom>
            </p:spPr>
          </p:pic>
        </p:grpSp>
        <p:sp>
          <p:nvSpPr>
            <p:cNvPr id="26" name="文本框 25"/>
            <p:cNvSpPr txBox="1"/>
            <p:nvPr userDrawn="1"/>
          </p:nvSpPr>
          <p:spPr>
            <a:xfrm>
              <a:off x="1068" y="6371"/>
              <a:ext cx="2197" cy="11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lnSpc>
                  <a:spcPct val="150000"/>
                </a:lnSpc>
                <a:defRPr/>
              </a:pPr>
              <a:r>
                <a:rPr lang="zh-CN" altLang="en-US" spc="400" dirty="0">
                  <a:solidFill>
                    <a:srgbClr val="595959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版本审阅</a:t>
              </a:r>
              <a:endParaRPr lang="en-US" altLang="zh-CN" spc="400" dirty="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  <a:p>
              <a:pPr algn="ctr">
                <a:lnSpc>
                  <a:spcPct val="150000"/>
                </a:lnSpc>
                <a:defRPr/>
              </a:pPr>
              <a:r>
                <a:rPr lang="en-US" altLang="zh-CN" sz="900" spc="50" dirty="0">
                  <a:solidFill>
                    <a:srgbClr val="595959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VERSION REVIEW</a:t>
              </a:r>
              <a:endParaRPr lang="zh-CN" altLang="en-US" sz="900" spc="50" dirty="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7" name="标题 26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459105" y="109855"/>
            <a:ext cx="4894580" cy="543560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sz="4000">
                <a:sym typeface="+mn-ea"/>
              </a:rPr>
              <a:t>目录</a:t>
            </a:r>
            <a:endParaRPr sz="4000">
              <a:sym typeface="+mn-ea"/>
            </a:endParaRPr>
          </a:p>
        </p:txBody>
      </p:sp>
      <p:sp>
        <p:nvSpPr>
          <p:cNvPr id="29" name="矩形 28"/>
          <p:cNvSpPr/>
          <p:nvPr userDrawn="1"/>
        </p:nvSpPr>
        <p:spPr>
          <a:xfrm>
            <a:off x="300355" y="219075"/>
            <a:ext cx="158750" cy="528320"/>
          </a:xfrm>
          <a:prstGeom prst="rect">
            <a:avLst/>
          </a:prstGeom>
          <a:solidFill>
            <a:srgbClr val="1A5CD6"/>
          </a:solidFill>
          <a:ln>
            <a:solidFill>
              <a:srgbClr val="0070C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0" name="直接连接符 29"/>
          <p:cNvCxnSpPr/>
          <p:nvPr userDrawn="1"/>
        </p:nvCxnSpPr>
        <p:spPr>
          <a:xfrm>
            <a:off x="379730" y="747395"/>
            <a:ext cx="1169352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9" name="文本框 58"/>
          <p:cNvSpPr txBox="1"/>
          <p:nvPr userDrawn="1"/>
        </p:nvSpPr>
        <p:spPr>
          <a:xfrm>
            <a:off x="10358755" y="66675"/>
            <a:ext cx="1861820" cy="6432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WPS灵秀黑" charset="-122"/>
              </a:rPr>
              <a:t>YD Vision</a:t>
            </a:r>
            <a:endParaRPr lang="en-US" altLang="zh-CN" sz="2800" b="1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  <a:sym typeface="WPS灵秀黑" charset="-122"/>
            </a:endParaRPr>
          </a:p>
          <a:p>
            <a:r>
              <a:rPr lang="en-US" altLang="zh-CN" sz="12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Better Service</a:t>
            </a:r>
            <a:endParaRPr lang="en-US" altLang="zh-CN" sz="1200" b="1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459105" y="102235"/>
            <a:ext cx="4894580" cy="543560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sz="4000">
                <a:sym typeface="+mn-ea"/>
              </a:rPr>
              <a:t>版本审阅</a:t>
            </a:r>
            <a:endParaRPr sz="4000">
              <a:sym typeface="+mn-ea"/>
            </a:endParaRPr>
          </a:p>
        </p:txBody>
      </p:sp>
      <p:sp>
        <p:nvSpPr>
          <p:cNvPr id="31" name="矩形 30"/>
          <p:cNvSpPr/>
          <p:nvPr userDrawn="1"/>
        </p:nvSpPr>
        <p:spPr>
          <a:xfrm>
            <a:off x="300355" y="209550"/>
            <a:ext cx="158750" cy="528320"/>
          </a:xfrm>
          <a:prstGeom prst="rect">
            <a:avLst/>
          </a:prstGeom>
          <a:solidFill>
            <a:srgbClr val="1A5CD6"/>
          </a:solidFill>
          <a:ln>
            <a:solidFill>
              <a:srgbClr val="0070C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2" name="直接连接符 31"/>
          <p:cNvCxnSpPr/>
          <p:nvPr userDrawn="1"/>
        </p:nvCxnSpPr>
        <p:spPr>
          <a:xfrm>
            <a:off x="379730" y="737870"/>
            <a:ext cx="1169352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9" name="文本框 58"/>
          <p:cNvSpPr txBox="1"/>
          <p:nvPr userDrawn="1"/>
        </p:nvSpPr>
        <p:spPr>
          <a:xfrm>
            <a:off x="10358755" y="66675"/>
            <a:ext cx="1861820" cy="6432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WPS灵秀黑" charset="-122"/>
              </a:rPr>
              <a:t>YD Vision</a:t>
            </a:r>
            <a:endParaRPr lang="en-US" altLang="zh-CN" sz="2800" b="1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  <a:sym typeface="WPS灵秀黑" charset="-122"/>
            </a:endParaRPr>
          </a:p>
          <a:p>
            <a:r>
              <a:rPr lang="en-US" altLang="zh-CN" sz="12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Better Service</a:t>
            </a:r>
            <a:endParaRPr lang="en-US" altLang="zh-CN" sz="1200" b="1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1322070" y="1264285"/>
          <a:ext cx="9547225" cy="2491740"/>
        </p:xfrm>
        <a:graphic>
          <a:graphicData uri="http://schemas.openxmlformats.org/drawingml/2006/table">
            <a:tbl>
              <a:tblPr firstRow="1" bandRow="1">
                <a:tableStyleId>{91EBBBCC-DAD2-459C-BE2E-F6DE35CF9A28}</a:tableStyleId>
              </a:tblPr>
              <a:tblGrid>
                <a:gridCol w="1196975"/>
                <a:gridCol w="4194175"/>
                <a:gridCol w="2078355"/>
                <a:gridCol w="2077720"/>
              </a:tblGrid>
              <a:tr h="542925">
                <a:tc>
                  <a:txBody>
                    <a:bodyPr/>
                    <a:p>
                      <a:pPr algn="ctr"/>
                      <a:r>
                        <a:rPr lang="zh-CN" altLang="en-US" sz="1600" b="0" dirty="0">
                          <a:latin typeface="Arial" panose="020B0604020202020204" pitchFamily="34" charset="0"/>
                          <a:ea typeface="微软雅黑" panose="020B0503020204020204" charset="-122"/>
                          <a:sym typeface="Arial" panose="020B0604020202020204" pitchFamily="34" charset="0"/>
                        </a:rPr>
                        <a:t>版本</a:t>
                      </a:r>
                      <a:endParaRPr lang="zh-CN" altLang="en-US" sz="1600" b="0" dirty="0">
                        <a:latin typeface="Arial" panose="020B0604020202020204" pitchFamily="34" charset="0"/>
                        <a:ea typeface="微软雅黑" panose="020B0503020204020204" charset="-122"/>
                        <a:sym typeface="Arial" panose="020B0604020202020204" pitchFamily="34" charset="0"/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600" b="0" dirty="0">
                          <a:latin typeface="Arial" panose="020B0604020202020204" pitchFamily="34" charset="0"/>
                          <a:ea typeface="微软雅黑" panose="020B0503020204020204" charset="-122"/>
                          <a:sym typeface="Arial" panose="020B0604020202020204" pitchFamily="34" charset="0"/>
                        </a:rPr>
                        <a:t>修改原因</a:t>
                      </a:r>
                      <a:endParaRPr lang="zh-CN" altLang="en-US" sz="1600" b="0" dirty="0">
                        <a:latin typeface="Arial" panose="020B0604020202020204" pitchFamily="34" charset="0"/>
                        <a:ea typeface="微软雅黑" panose="020B0503020204020204" charset="-122"/>
                        <a:sym typeface="Arial" panose="020B0604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600" b="0" dirty="0">
                          <a:latin typeface="Arial" panose="020B0604020202020204" pitchFamily="34" charset="0"/>
                          <a:ea typeface="微软雅黑" panose="020B0503020204020204" charset="-122"/>
                          <a:sym typeface="Arial" panose="020B0604020202020204" pitchFamily="34" charset="0"/>
                        </a:rPr>
                        <a:t>方案工程师</a:t>
                      </a:r>
                      <a:endParaRPr lang="zh-CN" altLang="en-US" sz="1600" b="0" dirty="0">
                        <a:latin typeface="Arial" panose="020B0604020202020204" pitchFamily="34" charset="0"/>
                        <a:ea typeface="微软雅黑" panose="020B0503020204020204" charset="-122"/>
                        <a:sym typeface="Arial" panose="020B0604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600" b="0" dirty="0">
                          <a:latin typeface="Arial" panose="020B0604020202020204" pitchFamily="34" charset="0"/>
                          <a:ea typeface="微软雅黑" panose="020B0503020204020204" charset="-122"/>
                          <a:sym typeface="Arial" panose="020B0604020202020204" pitchFamily="34" charset="0"/>
                        </a:rPr>
                        <a:t>更新时间</a:t>
                      </a:r>
                      <a:endParaRPr lang="zh-CN" altLang="en-US" sz="1600" b="0" dirty="0">
                        <a:latin typeface="Arial" panose="020B0604020202020204" pitchFamily="34" charset="0"/>
                        <a:ea typeface="微软雅黑" panose="020B0503020204020204" charset="-122"/>
                        <a:sym typeface="Arial" panose="020B0604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649605"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  <a:sym typeface="Arial" panose="020B0604020202020204" pitchFamily="34" charset="0"/>
                        </a:rPr>
                        <a:t>V1.0</a:t>
                      </a:r>
                      <a:endParaRPr lang="en-US" altLang="zh-CN" sz="14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  <a:sym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zh-CN" altLang="en-US" sz="14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  <a:sym typeface="Arial" panose="020B0604020202020204" pitchFamily="34" charset="0"/>
                        </a:rPr>
                        <a:t>初版方案书制作</a:t>
                      </a:r>
                      <a:endParaRPr lang="zh-CN" altLang="en-US" sz="14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  <a:sym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  <a:sym typeface="Arial" panose="020B0604020202020204" pitchFamily="34" charset="0"/>
                        </a:rPr>
                        <a:t>潘建</a:t>
                      </a:r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  <a:sym typeface="Arial" panose="020B0604020202020204" pitchFamily="34" charset="0"/>
                        </a:rPr>
                        <a:t>谋</a:t>
                      </a:r>
                      <a:endParaRPr lang="zh-CN" altLang="en-US" sz="1400" b="0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  <a:sym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  <a:sym typeface="Arial" panose="020B0604020202020204" pitchFamily="34" charset="0"/>
                        </a:rPr>
                        <a:t>2024/3/18</a:t>
                      </a:r>
                      <a:endParaRPr lang="en-US" altLang="zh-CN" sz="1400" b="0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  <a:sym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49605">
                <a:tc>
                  <a:txBody>
                    <a:bodyPr/>
                    <a:p>
                      <a:pPr marL="0" algn="ctr" defTabSz="914400" rtl="0" eaLnBrk="1" latinLnBrk="0" hangingPunct="1">
                        <a:buNone/>
                      </a:pPr>
                      <a:endParaRPr lang="en-US" altLang="zh-CN" sz="14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  <a:sym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marL="0" algn="ctr" defTabSz="914400" rtl="0" eaLnBrk="1" latinLnBrk="0" hangingPunct="1">
                        <a:buNone/>
                      </a:pPr>
                      <a:endParaRPr lang="zh-CN" altLang="en-US" sz="14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  <a:sym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marL="0" algn="ctr" defTabSz="914400" rtl="0" eaLnBrk="1" latinLnBrk="0" hangingPunct="1">
                        <a:buNone/>
                      </a:pPr>
                      <a:endParaRPr lang="zh-CN" altLang="en-US" sz="1400" b="0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  <a:sym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p>
                      <a:pPr marL="0" algn="ctr" defTabSz="914400" rtl="0" eaLnBrk="1" latinLnBrk="0" hangingPunct="1">
                        <a:buNone/>
                      </a:pPr>
                      <a:endParaRPr lang="en-US" altLang="zh-CN" sz="1400" b="0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  <a:sym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/>
          <p:nvPr/>
        </p:nvGraphicFramePr>
        <p:xfrm>
          <a:off x="6934835" y="1308735"/>
          <a:ext cx="4801235" cy="4563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1" imgW="5575300" imgH="5029200" progId="Paint.Picture">
                  <p:embed/>
                </p:oleObj>
              </mc:Choice>
              <mc:Fallback>
                <p:oleObj name="" r:id="rId1" imgW="5575300" imgH="5029200" progId="Paint.Picture">
                  <p:embed/>
                  <p:pic>
                    <p:nvPicPr>
                      <p:cNvPr id="0" name="图片 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934835" y="1308735"/>
                        <a:ext cx="4801235" cy="45637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标题 26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459105" y="109855"/>
            <a:ext cx="4894580" cy="543560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sz="4000">
                <a:sym typeface="+mn-ea"/>
              </a:rPr>
              <a:t>客户需求</a:t>
            </a:r>
            <a:endParaRPr sz="4000">
              <a:sym typeface="+mn-ea"/>
            </a:endParaRPr>
          </a:p>
        </p:txBody>
      </p:sp>
      <p:sp>
        <p:nvSpPr>
          <p:cNvPr id="29" name="矩形 28"/>
          <p:cNvSpPr/>
          <p:nvPr userDrawn="1"/>
        </p:nvSpPr>
        <p:spPr>
          <a:xfrm>
            <a:off x="300355" y="219075"/>
            <a:ext cx="158750" cy="528320"/>
          </a:xfrm>
          <a:prstGeom prst="rect">
            <a:avLst/>
          </a:prstGeom>
          <a:solidFill>
            <a:srgbClr val="1A5CD6"/>
          </a:solidFill>
          <a:ln>
            <a:solidFill>
              <a:srgbClr val="0070C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0" name="直接连接符 29"/>
          <p:cNvCxnSpPr/>
          <p:nvPr userDrawn="1"/>
        </p:nvCxnSpPr>
        <p:spPr>
          <a:xfrm>
            <a:off x="379730" y="747395"/>
            <a:ext cx="1169352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9" name="文本框 58"/>
          <p:cNvSpPr txBox="1"/>
          <p:nvPr userDrawn="1"/>
        </p:nvSpPr>
        <p:spPr>
          <a:xfrm>
            <a:off x="10358755" y="66675"/>
            <a:ext cx="1861820" cy="6432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WPS灵秀黑" charset="-122"/>
              </a:rPr>
              <a:t>YD Vision</a:t>
            </a:r>
            <a:endParaRPr lang="en-US" altLang="zh-CN" sz="2800" b="1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  <a:sym typeface="WPS灵秀黑" charset="-122"/>
            </a:endParaRPr>
          </a:p>
          <a:p>
            <a:r>
              <a:rPr lang="en-US" altLang="zh-CN" sz="12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Better Service</a:t>
            </a:r>
            <a:endParaRPr lang="en-US" altLang="zh-CN" sz="1200" b="1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459105" y="1183005"/>
            <a:ext cx="6527165" cy="56305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80000"/>
              </a:lnSpc>
            </a:pPr>
            <a:r>
              <a:rPr lang="zh-CN" altLang="en-US" sz="2400" b="1" dirty="0">
                <a:latin typeface="+mn-ea"/>
                <a:cs typeface="+mn-ea"/>
              </a:rPr>
              <a:t>产品名称：</a:t>
            </a:r>
            <a:r>
              <a:rPr lang="zh-CN" altLang="en-US" sz="1800">
                <a:latin typeface="+mn-ea"/>
                <a:cs typeface="+mn-ea"/>
              </a:rPr>
              <a:t>多片离合器</a:t>
            </a:r>
            <a:r>
              <a:rPr lang="zh-CN" altLang="en-US" sz="1800">
                <a:latin typeface="+mn-ea"/>
                <a:cs typeface="+mn-ea"/>
              </a:rPr>
              <a:t>钢片</a:t>
            </a:r>
            <a:endParaRPr lang="zh-CN" altLang="en-US" sz="2400" b="1" dirty="0">
              <a:latin typeface="+mn-ea"/>
              <a:cs typeface="+mn-ea"/>
            </a:endParaRPr>
          </a:p>
          <a:p>
            <a:pPr>
              <a:lnSpc>
                <a:spcPct val="180000"/>
              </a:lnSpc>
            </a:pPr>
            <a:r>
              <a:rPr lang="zh-CN" altLang="en-US" sz="2400" b="1" dirty="0">
                <a:latin typeface="+mn-ea"/>
                <a:cs typeface="+mn-ea"/>
              </a:rPr>
              <a:t>产品尺寸：</a:t>
            </a:r>
            <a:r>
              <a:rPr lang="zh-CN" altLang="en-US" sz="1800">
                <a:latin typeface="+mn-ea"/>
                <a:cs typeface="+mn-ea"/>
              </a:rPr>
              <a:t>需兼容Φ</a:t>
            </a:r>
            <a:r>
              <a:rPr lang="en-US" altLang="zh-CN" sz="1800">
                <a:latin typeface="+mn-ea"/>
                <a:cs typeface="+mn-ea"/>
              </a:rPr>
              <a:t>40</a:t>
            </a:r>
            <a:r>
              <a:rPr lang="zh-CN" altLang="en-US" sz="1800">
                <a:latin typeface="+mn-ea"/>
                <a:cs typeface="+mn-ea"/>
              </a:rPr>
              <a:t>/</a:t>
            </a:r>
            <a:r>
              <a:rPr lang="en-US" altLang="zh-CN" sz="1800">
                <a:latin typeface="+mn-ea"/>
                <a:cs typeface="+mn-ea"/>
              </a:rPr>
              <a:t>27</a:t>
            </a:r>
            <a:r>
              <a:rPr lang="zh-CN" altLang="en-US" sz="1800">
                <a:latin typeface="+mn-ea"/>
                <a:cs typeface="+mn-ea"/>
              </a:rPr>
              <a:t>mm的产品</a:t>
            </a:r>
            <a:endParaRPr lang="zh-CN" altLang="en-US" sz="2400" b="1" dirty="0">
              <a:latin typeface="+mn-ea"/>
              <a:cs typeface="+mn-ea"/>
            </a:endParaRPr>
          </a:p>
          <a:p>
            <a:pPr>
              <a:lnSpc>
                <a:spcPct val="180000"/>
              </a:lnSpc>
            </a:pPr>
            <a:r>
              <a:rPr lang="zh-CN" altLang="en-US" sz="2400" b="1" dirty="0">
                <a:latin typeface="+mn-ea"/>
                <a:cs typeface="+mn-ea"/>
              </a:rPr>
              <a:t>检测要求：</a:t>
            </a:r>
            <a:br>
              <a:rPr lang="zh-CN" altLang="en-US" sz="1600" dirty="0">
                <a:latin typeface="+mn-ea"/>
                <a:cs typeface="+mn-ea"/>
              </a:rPr>
            </a:br>
            <a:r>
              <a:rPr lang="en-US" altLang="zh-CN" dirty="0">
                <a:latin typeface="+mn-ea"/>
                <a:cs typeface="+mn-ea"/>
              </a:rPr>
              <a:t>1. </a:t>
            </a:r>
            <a:br>
              <a:rPr lang="zh-CN" altLang="en-US">
                <a:latin typeface="+mn-ea"/>
                <a:cs typeface="+mn-ea"/>
                <a:sym typeface="+mn-ea"/>
              </a:rPr>
            </a:br>
            <a:r>
              <a:rPr lang="en-US" altLang="zh-CN" dirty="0">
                <a:latin typeface="+mn-ea"/>
                <a:cs typeface="+mn-ea"/>
                <a:sym typeface="+mn-ea"/>
              </a:rPr>
              <a:t>2. </a:t>
            </a:r>
            <a:endParaRPr lang="zh-CN" altLang="en-US">
              <a:latin typeface="+mn-ea"/>
              <a:cs typeface="+mn-ea"/>
              <a:sym typeface="+mn-ea"/>
            </a:endParaRPr>
          </a:p>
          <a:p>
            <a:pPr>
              <a:lnSpc>
                <a:spcPct val="180000"/>
              </a:lnSpc>
            </a:pPr>
            <a:r>
              <a:rPr lang="en-US" altLang="zh-CN">
                <a:latin typeface="+mn-ea"/>
                <a:cs typeface="+mn-ea"/>
                <a:sym typeface="+mn-ea"/>
              </a:rPr>
              <a:t>3. </a:t>
            </a:r>
            <a:endParaRPr lang="en-US" altLang="zh-CN">
              <a:latin typeface="+mn-ea"/>
              <a:cs typeface="+mn-ea"/>
              <a:sym typeface="+mn-ea"/>
            </a:endParaRPr>
          </a:p>
          <a:p>
            <a:pPr>
              <a:lnSpc>
                <a:spcPct val="180000"/>
              </a:lnSpc>
            </a:pPr>
            <a:r>
              <a:rPr lang="en-US" altLang="zh-CN">
                <a:latin typeface="+mn-ea"/>
                <a:cs typeface="+mn-ea"/>
                <a:sym typeface="+mn-ea"/>
              </a:rPr>
              <a:t>4.   </a:t>
            </a:r>
            <a:endParaRPr lang="zh-CN" altLang="en-US">
              <a:latin typeface="+mn-ea"/>
              <a:cs typeface="+mn-ea"/>
              <a:sym typeface="+mn-ea"/>
            </a:endParaRPr>
          </a:p>
          <a:p>
            <a:pPr>
              <a:lnSpc>
                <a:spcPct val="100000"/>
              </a:lnSpc>
            </a:pPr>
            <a:r>
              <a:rPr lang="zh-CN" altLang="en-US" sz="120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（此处描述检测内容及</a:t>
            </a:r>
            <a:r>
              <a:rPr lang="zh-CN" altLang="en-US" sz="120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具体要求</a:t>
            </a:r>
            <a:endParaRPr lang="zh-CN" altLang="en-US" sz="1200">
              <a:solidFill>
                <a:srgbClr val="FF0000"/>
              </a:solidFill>
              <a:latin typeface="+mn-ea"/>
              <a:cs typeface="+mn-ea"/>
              <a:sym typeface="+mn-ea"/>
            </a:endParaRPr>
          </a:p>
          <a:p>
            <a:pPr>
              <a:lnSpc>
                <a:spcPct val="100000"/>
              </a:lnSpc>
            </a:pPr>
            <a:r>
              <a:rPr lang="zh-CN" altLang="en-US" sz="120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 </a:t>
            </a:r>
            <a:r>
              <a:rPr lang="en-US" altLang="zh-CN" sz="120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  </a:t>
            </a:r>
            <a:r>
              <a:rPr lang="zh-CN" altLang="en-US" sz="120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定位项目一定要写清楚定位特征是什么，整体定位精度，机构精度，视觉精度要求</a:t>
            </a:r>
            <a:r>
              <a:rPr lang="en-US" altLang="zh-CN" sz="120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; </a:t>
            </a:r>
            <a:r>
              <a:rPr lang="zh-CN" altLang="en-US" sz="120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有无</a:t>
            </a:r>
            <a:r>
              <a:rPr lang="en-US" altLang="zh-CN" sz="120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CPK</a:t>
            </a:r>
            <a:r>
              <a:rPr lang="zh-CN" altLang="en-US" sz="120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要求，有的话要把</a:t>
            </a:r>
            <a:r>
              <a:rPr lang="en-US" altLang="zh-CN" sz="120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CPK</a:t>
            </a:r>
            <a:r>
              <a:rPr lang="zh-CN" altLang="en-US" sz="120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要求罗列进去。</a:t>
            </a:r>
            <a:endParaRPr lang="en-US" altLang="zh-CN" sz="1200">
              <a:solidFill>
                <a:srgbClr val="FF0000"/>
              </a:solidFill>
              <a:latin typeface="+mn-ea"/>
              <a:cs typeface="+mn-ea"/>
              <a:sym typeface="+mn-ea"/>
            </a:endParaRPr>
          </a:p>
          <a:p>
            <a:pPr>
              <a:lnSpc>
                <a:spcPct val="100000"/>
              </a:lnSpc>
            </a:pPr>
            <a:r>
              <a:rPr lang="en-US" altLang="zh-CN" sz="120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   </a:t>
            </a:r>
            <a:r>
              <a:rPr lang="zh-CN" altLang="en-US" sz="120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外观项目一定更要写清楚不良种类，误判率，漏检率要求；</a:t>
            </a:r>
            <a:endParaRPr lang="zh-CN" altLang="en-US" sz="1200">
              <a:solidFill>
                <a:srgbClr val="FF0000"/>
              </a:solidFill>
              <a:latin typeface="+mn-ea"/>
              <a:cs typeface="+mn-ea"/>
              <a:sym typeface="+mn-ea"/>
            </a:endParaRPr>
          </a:p>
          <a:p>
            <a:pPr>
              <a:lnSpc>
                <a:spcPct val="100000"/>
              </a:lnSpc>
            </a:pPr>
            <a:r>
              <a:rPr lang="zh-CN" altLang="en-US" sz="120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 </a:t>
            </a:r>
            <a:r>
              <a:rPr lang="en-US" altLang="zh-CN" sz="120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  </a:t>
            </a:r>
            <a:r>
              <a:rPr lang="zh-CN" altLang="en-US" sz="120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尺寸项目一定要写清楚重复性要求，相关性</a:t>
            </a:r>
            <a:r>
              <a:rPr lang="en-US" altLang="zh-CN" sz="120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(</a:t>
            </a:r>
            <a:r>
              <a:rPr lang="zh-CN" altLang="en-US" sz="120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真值比对</a:t>
            </a:r>
            <a:r>
              <a:rPr lang="en-US" altLang="zh-CN" sz="120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)</a:t>
            </a:r>
            <a:r>
              <a:rPr lang="zh-CN" altLang="en-US" sz="120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要求，</a:t>
            </a:r>
            <a:b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</a:b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844155" y="5872480"/>
            <a:ext cx="3529965" cy="5892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80000"/>
              </a:lnSpc>
            </a:pPr>
            <a:r>
              <a:rPr lang="en-US" altLang="zh-CN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(</a:t>
            </a:r>
            <a:r>
              <a:rPr lang="zh-CN" altLang="en-US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此处放产品的试图或示意图</a:t>
            </a:r>
            <a:r>
              <a:rPr lang="en-US" altLang="zh-CN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)</a:t>
            </a:r>
            <a:endParaRPr lang="en-US" altLang="zh-CN">
              <a:solidFill>
                <a:srgbClr val="FF0000"/>
              </a:solidFill>
              <a:latin typeface="+mn-ea"/>
              <a:cs typeface="+mn-ea"/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标题 26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59105" y="109855"/>
            <a:ext cx="4894580" cy="543560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sz="4000">
                <a:sym typeface="+mn-ea"/>
              </a:rPr>
              <a:t>检测说明</a:t>
            </a:r>
            <a:endParaRPr sz="4000">
              <a:sym typeface="+mn-ea"/>
            </a:endParaRPr>
          </a:p>
        </p:txBody>
      </p:sp>
      <p:sp>
        <p:nvSpPr>
          <p:cNvPr id="60" name="矩形 59"/>
          <p:cNvSpPr/>
          <p:nvPr userDrawn="1"/>
        </p:nvSpPr>
        <p:spPr>
          <a:xfrm>
            <a:off x="300355" y="219075"/>
            <a:ext cx="158750" cy="528320"/>
          </a:xfrm>
          <a:prstGeom prst="rect">
            <a:avLst/>
          </a:prstGeom>
          <a:solidFill>
            <a:srgbClr val="1A5CD6"/>
          </a:solidFill>
          <a:ln>
            <a:solidFill>
              <a:srgbClr val="0070C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61" name="直接连接符 60"/>
          <p:cNvCxnSpPr/>
          <p:nvPr userDrawn="1"/>
        </p:nvCxnSpPr>
        <p:spPr>
          <a:xfrm>
            <a:off x="379730" y="747395"/>
            <a:ext cx="1169352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 userDrawn="1"/>
        </p:nvSpPr>
        <p:spPr>
          <a:xfrm>
            <a:off x="10358755" y="66675"/>
            <a:ext cx="1861820" cy="6432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WPS灵秀黑" charset="-122"/>
              </a:rPr>
              <a:t>YD Vision</a:t>
            </a:r>
            <a:endParaRPr lang="en-US" altLang="zh-CN" sz="2800" b="1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  <a:sym typeface="WPS灵秀黑" charset="-122"/>
            </a:endParaRPr>
          </a:p>
          <a:p>
            <a:r>
              <a:rPr lang="en-US" altLang="zh-CN" sz="12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Better Service</a:t>
            </a:r>
            <a:endParaRPr lang="en-US" altLang="zh-CN" sz="1200" b="1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8970010" y="1572260"/>
            <a:ext cx="2540000" cy="889000"/>
            <a:chOff x="12699" y="3385"/>
            <a:chExt cx="5786" cy="2413"/>
          </a:xfrm>
        </p:grpSpPr>
        <p:sp>
          <p:nvSpPr>
            <p:cNvPr id="12" name="矩形 11"/>
            <p:cNvSpPr/>
            <p:nvPr/>
          </p:nvSpPr>
          <p:spPr>
            <a:xfrm>
              <a:off x="12699" y="3746"/>
              <a:ext cx="5787" cy="2053"/>
            </a:xfrm>
            <a:prstGeom prst="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12899" y="3385"/>
              <a:ext cx="155" cy="361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8179" y="3385"/>
              <a:ext cx="155" cy="361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5" name="矩形 14"/>
          <p:cNvSpPr/>
          <p:nvPr/>
        </p:nvSpPr>
        <p:spPr>
          <a:xfrm>
            <a:off x="8816340" y="1358265"/>
            <a:ext cx="550545" cy="406400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11212830" y="1358265"/>
            <a:ext cx="550545" cy="406400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9366885" y="2640965"/>
            <a:ext cx="186499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 dirty="0">
                <a:sym typeface="+mn-ea"/>
              </a:rPr>
              <a:t>点胶前拍照</a:t>
            </a:r>
            <a:r>
              <a:rPr lang="zh-CN" altLang="en-US" b="1" dirty="0">
                <a:sym typeface="+mn-ea"/>
              </a:rPr>
              <a:t>示意</a:t>
            </a:r>
            <a:endParaRPr lang="zh-CN" altLang="en-US" b="1" dirty="0">
              <a:sym typeface="+mn-ea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8864600" y="3409950"/>
            <a:ext cx="2387600" cy="22606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9519920" y="5142230"/>
            <a:ext cx="1073785" cy="7512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椭圆 21"/>
          <p:cNvSpPr/>
          <p:nvPr/>
        </p:nvSpPr>
        <p:spPr>
          <a:xfrm>
            <a:off x="9144635" y="3641725"/>
            <a:ext cx="1849120" cy="182245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椭圆 22"/>
          <p:cNvSpPr/>
          <p:nvPr/>
        </p:nvSpPr>
        <p:spPr>
          <a:xfrm>
            <a:off x="8929370" y="4690110"/>
            <a:ext cx="83820" cy="76200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椭圆 27"/>
          <p:cNvSpPr/>
          <p:nvPr/>
        </p:nvSpPr>
        <p:spPr>
          <a:xfrm>
            <a:off x="9497060" y="5436235"/>
            <a:ext cx="83820" cy="76200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椭圆 52"/>
          <p:cNvSpPr/>
          <p:nvPr/>
        </p:nvSpPr>
        <p:spPr>
          <a:xfrm>
            <a:off x="11080750" y="4817110"/>
            <a:ext cx="83820" cy="76200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椭圆 53"/>
          <p:cNvSpPr/>
          <p:nvPr/>
        </p:nvSpPr>
        <p:spPr>
          <a:xfrm>
            <a:off x="10509885" y="5464175"/>
            <a:ext cx="83820" cy="76200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椭圆 54"/>
          <p:cNvSpPr/>
          <p:nvPr/>
        </p:nvSpPr>
        <p:spPr>
          <a:xfrm>
            <a:off x="9057640" y="3561080"/>
            <a:ext cx="2015490" cy="1990725"/>
          </a:xfrm>
          <a:prstGeom prst="ellipse">
            <a:avLst/>
          </a:prstGeom>
          <a:noFill/>
          <a:ln w="28575">
            <a:solidFill>
              <a:schemeClr val="accent1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6" name="矩形 55"/>
          <p:cNvSpPr/>
          <p:nvPr/>
        </p:nvSpPr>
        <p:spPr>
          <a:xfrm>
            <a:off x="9755505" y="5142230"/>
            <a:ext cx="631825" cy="751205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57" name="直接连接符 56"/>
          <p:cNvCxnSpPr/>
          <p:nvPr/>
        </p:nvCxnSpPr>
        <p:spPr>
          <a:xfrm flipH="1">
            <a:off x="9679940" y="5462905"/>
            <a:ext cx="6350" cy="438785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2" name="直接连接符 61"/>
          <p:cNvCxnSpPr/>
          <p:nvPr/>
        </p:nvCxnSpPr>
        <p:spPr>
          <a:xfrm flipH="1">
            <a:off x="10456545" y="5464175"/>
            <a:ext cx="6350" cy="438785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3" name="矩形 62"/>
          <p:cNvSpPr/>
          <p:nvPr/>
        </p:nvSpPr>
        <p:spPr>
          <a:xfrm>
            <a:off x="9580880" y="5612130"/>
            <a:ext cx="322580" cy="323850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矩形 63"/>
          <p:cNvSpPr/>
          <p:nvPr/>
        </p:nvSpPr>
        <p:spPr>
          <a:xfrm>
            <a:off x="9519920" y="5288280"/>
            <a:ext cx="322580" cy="323850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5" name="矩形 64"/>
          <p:cNvSpPr/>
          <p:nvPr/>
        </p:nvSpPr>
        <p:spPr>
          <a:xfrm>
            <a:off x="9197340" y="5091430"/>
            <a:ext cx="322580" cy="323850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" name="矩形 65"/>
          <p:cNvSpPr/>
          <p:nvPr/>
        </p:nvSpPr>
        <p:spPr>
          <a:xfrm>
            <a:off x="8970010" y="4767580"/>
            <a:ext cx="322580" cy="323850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8929370" y="4443730"/>
            <a:ext cx="322580" cy="323850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8929370" y="4119880"/>
            <a:ext cx="322580" cy="323850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9" name="矩形 68"/>
          <p:cNvSpPr/>
          <p:nvPr/>
        </p:nvSpPr>
        <p:spPr>
          <a:xfrm>
            <a:off x="9013190" y="3796030"/>
            <a:ext cx="322580" cy="323850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0" name="矩形 69"/>
          <p:cNvSpPr/>
          <p:nvPr/>
        </p:nvSpPr>
        <p:spPr>
          <a:xfrm>
            <a:off x="9617710" y="3409950"/>
            <a:ext cx="322580" cy="323850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9295130" y="3561080"/>
            <a:ext cx="322580" cy="323850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2" name="矩形 71"/>
          <p:cNvSpPr/>
          <p:nvPr/>
        </p:nvSpPr>
        <p:spPr>
          <a:xfrm>
            <a:off x="10585450" y="3659505"/>
            <a:ext cx="322580" cy="323850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10262870" y="3472180"/>
            <a:ext cx="322580" cy="323850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9940290" y="3409950"/>
            <a:ext cx="322580" cy="323850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5" name="矩形 74"/>
          <p:cNvSpPr/>
          <p:nvPr/>
        </p:nvSpPr>
        <p:spPr>
          <a:xfrm>
            <a:off x="10841990" y="3983355"/>
            <a:ext cx="322580" cy="323850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10929620" y="4307205"/>
            <a:ext cx="322580" cy="323850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7" name="矩形 76"/>
          <p:cNvSpPr/>
          <p:nvPr/>
        </p:nvSpPr>
        <p:spPr>
          <a:xfrm>
            <a:off x="10890250" y="4631055"/>
            <a:ext cx="322580" cy="323850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8" name="矩形 77"/>
          <p:cNvSpPr/>
          <p:nvPr/>
        </p:nvSpPr>
        <p:spPr>
          <a:xfrm>
            <a:off x="10758170" y="4954905"/>
            <a:ext cx="322580" cy="323850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9" name="矩形 78"/>
          <p:cNvSpPr/>
          <p:nvPr/>
        </p:nvSpPr>
        <p:spPr>
          <a:xfrm>
            <a:off x="10456545" y="5215255"/>
            <a:ext cx="322580" cy="323850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0" name="矩形 79"/>
          <p:cNvSpPr/>
          <p:nvPr/>
        </p:nvSpPr>
        <p:spPr>
          <a:xfrm>
            <a:off x="10348595" y="5540375"/>
            <a:ext cx="366395" cy="368300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1" name="文本框 80"/>
          <p:cNvSpPr txBox="1"/>
          <p:nvPr/>
        </p:nvSpPr>
        <p:spPr>
          <a:xfrm>
            <a:off x="9299575" y="6044565"/>
            <a:ext cx="186499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 dirty="0">
                <a:sym typeface="+mn-ea"/>
              </a:rPr>
              <a:t>点胶后拍照</a:t>
            </a:r>
            <a:r>
              <a:rPr lang="zh-CN" altLang="en-US" b="1" dirty="0">
                <a:sym typeface="+mn-ea"/>
              </a:rPr>
              <a:t>示意</a:t>
            </a:r>
            <a:endParaRPr lang="zh-CN" altLang="en-US" b="1" dirty="0">
              <a:sym typeface="+mn-ea"/>
            </a:endParaRPr>
          </a:p>
        </p:txBody>
      </p:sp>
      <p:sp>
        <p:nvSpPr>
          <p:cNvPr id="82" name="文本框 81"/>
          <p:cNvSpPr txBox="1"/>
          <p:nvPr>
            <p:custDataLst>
              <p:tags r:id="rId2"/>
            </p:custDataLst>
          </p:nvPr>
        </p:nvSpPr>
        <p:spPr>
          <a:xfrm>
            <a:off x="459105" y="747395"/>
            <a:ext cx="8338820" cy="60661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sz="2000" b="1" dirty="0">
                <a:sym typeface="+mn-ea"/>
              </a:rPr>
              <a:t>综述：</a:t>
            </a:r>
            <a:r>
              <a:rPr lang="zh-CN" altLang="en-US" dirty="0">
                <a:sym typeface="+mn-ea"/>
              </a:rPr>
              <a:t>相机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检测分为点胶前检测及点胶后检测，检测内容为销钉有无</a:t>
            </a:r>
            <a:r>
              <a:rPr lang="en-US" altLang="zh-CN" dirty="0">
                <a:sym typeface="+mn-ea"/>
              </a:rPr>
              <a:t>/</a:t>
            </a:r>
            <a:r>
              <a:rPr lang="zh-CN" altLang="en-US" dirty="0">
                <a:sym typeface="+mn-ea"/>
              </a:rPr>
              <a:t>点胶定位引导</a:t>
            </a:r>
            <a:r>
              <a:rPr lang="en-US" altLang="zh-CN" dirty="0">
                <a:sym typeface="+mn-ea"/>
              </a:rPr>
              <a:t>/</a:t>
            </a:r>
            <a:r>
              <a:rPr lang="zh-CN" altLang="en-US" dirty="0">
                <a:sym typeface="+mn-ea"/>
              </a:rPr>
              <a:t>胶路检测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（此处填写该相机的检测内容及对应要求，便于客户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理解）</a:t>
            </a:r>
            <a:endParaRPr lang="zh-CN" altLang="en-US" b="1" dirty="0">
              <a:solidFill>
                <a:srgbClr val="FF0000"/>
              </a:solidFill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b="1" dirty="0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ym typeface="+mn-ea"/>
              </a:rPr>
              <a:t>检测内容一：</a:t>
            </a:r>
            <a:r>
              <a:rPr lang="zh-CN" altLang="en-US" sz="1600" dirty="0">
                <a:solidFill>
                  <a:srgbClr val="FF0000"/>
                </a:solidFill>
                <a:sym typeface="+mn-ea"/>
              </a:rPr>
              <a:t>点胶前检测</a:t>
            </a:r>
            <a:r>
              <a:rPr lang="zh-CN" altLang="en-US" sz="1600" dirty="0">
                <a:sym typeface="+mn-ea"/>
              </a:rPr>
              <a:t>销钉有无</a:t>
            </a:r>
            <a:r>
              <a:rPr lang="en-US" altLang="zh-CN" sz="1600" dirty="0">
                <a:sym typeface="+mn-ea"/>
              </a:rPr>
              <a:t>+</a:t>
            </a:r>
            <a:r>
              <a:rPr lang="zh-CN" altLang="en-US" sz="1600" dirty="0">
                <a:sym typeface="+mn-ea"/>
              </a:rPr>
              <a:t>点胶定位引导，定位精度±</a:t>
            </a:r>
            <a:r>
              <a:rPr lang="en-US" altLang="zh-CN" sz="1600" dirty="0">
                <a:sym typeface="+mn-ea"/>
              </a:rPr>
              <a:t>0.1mm</a:t>
            </a:r>
            <a:endParaRPr lang="zh-CN" altLang="en-US" sz="1600" b="1" dirty="0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tx1"/>
                </a:solidFill>
              </a:rPr>
              <a:t>检测说明：</a:t>
            </a:r>
            <a:endParaRPr lang="zh-CN" altLang="en-US" b="1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600" dirty="0">
                <a:solidFill>
                  <a:schemeClr val="tx1"/>
                </a:solidFill>
              </a:rPr>
              <a:t>点胶前拍摄，拍摄特征暂定为销钉上圆柱面，此种定位方式下，</a:t>
            </a:r>
            <a:r>
              <a:rPr lang="zh-CN" altLang="en-US" sz="1600" dirty="0">
                <a:solidFill>
                  <a:srgbClr val="FF0000"/>
                </a:solidFill>
              </a:rPr>
              <a:t>销钉需垂直与产品面</a:t>
            </a:r>
            <a:r>
              <a:rPr lang="zh-CN" altLang="en-US" sz="1600" dirty="0">
                <a:solidFill>
                  <a:schemeClr val="tx1"/>
                </a:solidFill>
              </a:rPr>
              <a:t>，如无法保持垂直，则需更换拍摄特征。</a:t>
            </a:r>
            <a:endParaRPr lang="zh-CN" altLang="en-US" sz="16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zh-CN" altLang="en-US" sz="16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tx1"/>
                </a:solidFill>
              </a:rPr>
              <a:t>检测功能二：</a:t>
            </a:r>
            <a:r>
              <a:rPr lang="zh-CN" altLang="en-US" sz="1600" dirty="0">
                <a:solidFill>
                  <a:srgbClr val="FF0000"/>
                </a:solidFill>
              </a:rPr>
              <a:t>点胶后</a:t>
            </a:r>
            <a:r>
              <a:rPr lang="zh-CN" altLang="en-US" sz="1600" dirty="0">
                <a:solidFill>
                  <a:srgbClr val="FF0000"/>
                </a:solidFill>
                <a:sym typeface="+mn-ea"/>
              </a:rPr>
              <a:t>检测</a:t>
            </a:r>
            <a:r>
              <a:rPr lang="zh-CN" altLang="en-US" sz="1600">
                <a:sym typeface="+mn-ea"/>
              </a:rPr>
              <a:t>胶路的胶宽，是否断胶，胶路边缘与金属侧边的距离</a:t>
            </a:r>
            <a:endParaRPr lang="zh-CN" altLang="en-US" sz="1600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ym typeface="+mn-ea"/>
              </a:rPr>
              <a:t>检测说明：</a:t>
            </a:r>
            <a:endParaRPr lang="zh-CN" altLang="en-US" b="1" dirty="0"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600" dirty="0">
                <a:solidFill>
                  <a:schemeClr val="tx1"/>
                </a:solidFill>
              </a:rPr>
              <a:t>相机需沿着胶路移动拍摄多次，依次把整个胶路拍摄完毕，拍照次数取决于胶路整长。</a:t>
            </a:r>
            <a:endParaRPr lang="zh-CN" altLang="en-US" sz="16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/>
                </a:solidFill>
              </a:rPr>
              <a:t>备注：相机需挂在可</a:t>
            </a:r>
            <a:r>
              <a:rPr lang="en-US" altLang="zh-CN" sz="1600" dirty="0">
                <a:solidFill>
                  <a:schemeClr val="tx1"/>
                </a:solidFill>
              </a:rPr>
              <a:t>X/Y/Z</a:t>
            </a:r>
            <a:r>
              <a:rPr lang="zh-CN" altLang="en-US" sz="1600" dirty="0">
                <a:solidFill>
                  <a:schemeClr val="tx1"/>
                </a:solidFill>
              </a:rPr>
              <a:t>移动的平台上。</a:t>
            </a:r>
            <a:endParaRPr lang="zh-CN" altLang="en-US" sz="16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rgbClr val="FF0000"/>
                </a:solidFill>
                <a:sym typeface="+mn-ea"/>
              </a:rPr>
              <a:t>（</a:t>
            </a:r>
            <a:r>
              <a:rPr lang="zh-CN" altLang="en-US" sz="1400" dirty="0">
                <a:solidFill>
                  <a:srgbClr val="FF0000"/>
                </a:solidFill>
                <a:sym typeface="+mn-ea"/>
              </a:rPr>
              <a:t>此处简单的描写检测原理及注意要点；检测原理：尺寸类，通过检测哪个特征获得什么尺寸，再通过计算得到哪个尺寸等；外观类：通过</a:t>
            </a:r>
            <a:r>
              <a:rPr lang="en-US" altLang="zh-CN" sz="1400" dirty="0">
                <a:solidFill>
                  <a:srgbClr val="FF0000"/>
                </a:solidFill>
                <a:sym typeface="+mn-ea"/>
              </a:rPr>
              <a:t>AI</a:t>
            </a:r>
            <a:r>
              <a:rPr lang="zh-CN" altLang="en-US" sz="1400" dirty="0">
                <a:solidFill>
                  <a:srgbClr val="FF0000"/>
                </a:solidFill>
                <a:sym typeface="+mn-ea"/>
              </a:rPr>
              <a:t>模型对</a:t>
            </a:r>
            <a:r>
              <a:rPr lang="en-US" altLang="zh-CN" sz="1400" dirty="0">
                <a:solidFill>
                  <a:srgbClr val="FF0000"/>
                </a:solidFill>
                <a:sym typeface="+mn-ea"/>
              </a:rPr>
              <a:t>NG</a:t>
            </a:r>
            <a:r>
              <a:rPr lang="zh-CN" altLang="en-US" sz="1400" dirty="0">
                <a:solidFill>
                  <a:srgbClr val="FF0000"/>
                </a:solidFill>
                <a:sym typeface="+mn-ea"/>
              </a:rPr>
              <a:t>失效模式的分析，或通过色差</a:t>
            </a:r>
            <a:r>
              <a:rPr lang="en-US" altLang="zh-CN" sz="1400" dirty="0">
                <a:solidFill>
                  <a:srgbClr val="FF0000"/>
                </a:solidFill>
                <a:sym typeface="+mn-ea"/>
              </a:rPr>
              <a:t>....</a:t>
            </a:r>
            <a:r>
              <a:rPr lang="zh-CN" altLang="en-US" sz="1400" dirty="0">
                <a:solidFill>
                  <a:srgbClr val="FF0000"/>
                </a:solidFill>
                <a:sym typeface="+mn-ea"/>
              </a:rPr>
              <a:t>分析</a:t>
            </a:r>
            <a:r>
              <a:rPr lang="en-US" altLang="zh-CN" sz="1400" dirty="0">
                <a:solidFill>
                  <a:srgbClr val="FF0000"/>
                </a:solidFill>
                <a:sym typeface="+mn-ea"/>
              </a:rPr>
              <a:t>NG</a:t>
            </a:r>
            <a:r>
              <a:rPr lang="zh-CN" altLang="en-US" sz="1400" dirty="0">
                <a:solidFill>
                  <a:srgbClr val="FF0000"/>
                </a:solidFill>
                <a:sym typeface="+mn-ea"/>
              </a:rPr>
              <a:t>的情况；定位类，通过</a:t>
            </a:r>
            <a:r>
              <a:rPr lang="en-US" altLang="zh-CN" sz="1400" dirty="0">
                <a:solidFill>
                  <a:srgbClr val="FF0000"/>
                </a:solidFill>
                <a:sym typeface="+mn-ea"/>
              </a:rPr>
              <a:t>XX</a:t>
            </a:r>
            <a:r>
              <a:rPr lang="zh-CN" altLang="en-US" sz="1400" dirty="0">
                <a:solidFill>
                  <a:srgbClr val="FF0000"/>
                </a:solidFill>
                <a:sym typeface="+mn-ea"/>
              </a:rPr>
              <a:t>特征获得定位基准，计算产品偏移量，会给出哪些值给上位机；</a:t>
            </a:r>
            <a:endParaRPr lang="zh-CN" altLang="en-US" sz="1400" dirty="0">
              <a:solidFill>
                <a:srgbClr val="FF0000"/>
              </a:solidFill>
              <a:sym typeface="+mn-ea"/>
            </a:endParaRP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rgbClr val="FF0000"/>
                </a:solidFill>
                <a:sym typeface="+mn-ea"/>
              </a:rPr>
              <a:t> </a:t>
            </a:r>
            <a:r>
              <a:rPr lang="en-US" altLang="zh-CN" sz="1400" dirty="0">
                <a:solidFill>
                  <a:srgbClr val="FF0000"/>
                </a:solidFill>
                <a:sym typeface="+mn-ea"/>
              </a:rPr>
              <a:t>  </a:t>
            </a:r>
            <a:r>
              <a:rPr lang="zh-CN" altLang="en-US" sz="1400" dirty="0">
                <a:solidFill>
                  <a:srgbClr val="FF0000"/>
                </a:solidFill>
                <a:sym typeface="+mn-ea"/>
              </a:rPr>
              <a:t>注意要点：重点！！！对于机构的要求，要非常明确的填写。比如：产品的拍摄背景，机构的平稳性，多个相机的话对应的拍摄顺序，产品是否要加紧，产品在此处要停顿多久，相机一定要可通过</a:t>
            </a:r>
            <a:r>
              <a:rPr lang="zh-CN" altLang="en-US" sz="1400" dirty="0">
                <a:solidFill>
                  <a:srgbClr val="FF0000"/>
                </a:solidFill>
                <a:sym typeface="+mn-ea"/>
              </a:rPr>
              <a:t>旋钮微调等。注意要点，红字标注。</a:t>
            </a:r>
            <a:endParaRPr lang="zh-CN" altLang="en-US" sz="1600" b="1" dirty="0">
              <a:solidFill>
                <a:srgbClr val="FF0000"/>
              </a:solidFill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sz="1600" b="1" dirty="0"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sz="1600" dirty="0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标题 26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59105" y="109855"/>
            <a:ext cx="6827520" cy="543560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sz="4000">
                <a:sym typeface="+mn-ea"/>
              </a:rPr>
              <a:t>打光示意图</a:t>
            </a:r>
            <a:r>
              <a:rPr lang="en-US" altLang="zh-CN" sz="4000">
                <a:sym typeface="+mn-ea"/>
              </a:rPr>
              <a:t>-</a:t>
            </a:r>
            <a:r>
              <a:rPr sz="4000">
                <a:sym typeface="+mn-ea"/>
              </a:rPr>
              <a:t>相机</a:t>
            </a:r>
            <a:r>
              <a:rPr lang="en-US" altLang="zh-CN" sz="4000">
                <a:sym typeface="+mn-ea"/>
              </a:rPr>
              <a:t>1</a:t>
            </a:r>
            <a:endParaRPr lang="en-US" altLang="zh-CN" sz="4000">
              <a:sym typeface="+mn-ea"/>
            </a:endParaRPr>
          </a:p>
        </p:txBody>
      </p:sp>
      <p:sp>
        <p:nvSpPr>
          <p:cNvPr id="60" name="矩形 59"/>
          <p:cNvSpPr/>
          <p:nvPr userDrawn="1"/>
        </p:nvSpPr>
        <p:spPr>
          <a:xfrm>
            <a:off x="300355" y="219075"/>
            <a:ext cx="158750" cy="528320"/>
          </a:xfrm>
          <a:prstGeom prst="rect">
            <a:avLst/>
          </a:prstGeom>
          <a:solidFill>
            <a:srgbClr val="1A5CD6"/>
          </a:solidFill>
          <a:ln>
            <a:solidFill>
              <a:srgbClr val="0070C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61" name="直接连接符 60"/>
          <p:cNvCxnSpPr/>
          <p:nvPr userDrawn="1"/>
        </p:nvCxnSpPr>
        <p:spPr>
          <a:xfrm>
            <a:off x="379730" y="747395"/>
            <a:ext cx="1169352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 userDrawn="1"/>
        </p:nvSpPr>
        <p:spPr>
          <a:xfrm>
            <a:off x="10358755" y="66675"/>
            <a:ext cx="1861820" cy="6432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WPS灵秀黑" charset="-122"/>
              </a:rPr>
              <a:t>YD Vision</a:t>
            </a:r>
            <a:endParaRPr lang="en-US" altLang="zh-CN" sz="2800" b="1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  <a:sym typeface="WPS灵秀黑" charset="-122"/>
            </a:endParaRPr>
          </a:p>
          <a:p>
            <a:r>
              <a:rPr lang="en-US" altLang="zh-CN" sz="12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Better Service</a:t>
            </a:r>
            <a:endParaRPr lang="en-US" altLang="zh-CN" sz="1200" b="1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3" name="文本框 112"/>
          <p:cNvSpPr txBox="1"/>
          <p:nvPr>
            <p:custDataLst>
              <p:tags r:id="rId2"/>
            </p:custDataLst>
          </p:nvPr>
        </p:nvSpPr>
        <p:spPr>
          <a:xfrm>
            <a:off x="7735187" y="6122457"/>
            <a:ext cx="2880000" cy="36830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光源示意图正视图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Schematic diagram of setup (Front View)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8" name="文本框 117"/>
          <p:cNvSpPr txBox="1"/>
          <p:nvPr>
            <p:custDataLst>
              <p:tags r:id="rId3"/>
            </p:custDataLst>
          </p:nvPr>
        </p:nvSpPr>
        <p:spPr>
          <a:xfrm>
            <a:off x="8756650" y="1130300"/>
            <a:ext cx="1153795" cy="460375"/>
          </a:xfrm>
          <a:prstGeom prst="rect">
            <a:avLst/>
          </a:prstGeom>
        </p:spPr>
        <p:txBody>
          <a:bodyPr wrap="square" anchor="t">
            <a:spAutoFit/>
          </a:bodyPr>
          <a:p>
            <a:pPr marL="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50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±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87" name="组合 6147"/>
          <p:cNvGrpSpPr/>
          <p:nvPr/>
        </p:nvGrpSpPr>
        <p:grpSpPr>
          <a:xfrm rot="10800000">
            <a:off x="8756650" y="4300855"/>
            <a:ext cx="390525" cy="1139825"/>
            <a:chOff x="0" y="0"/>
            <a:chExt cx="545" cy="1679"/>
          </a:xfrm>
        </p:grpSpPr>
        <p:sp>
          <p:nvSpPr>
            <p:cNvPr id="88" name="Rectangle 124"/>
            <p:cNvSpPr/>
            <p:nvPr>
              <p:custDataLst>
                <p:tags r:id="rId4"/>
              </p:custDataLst>
            </p:nvPr>
          </p:nvSpPr>
          <p:spPr>
            <a:xfrm>
              <a:off x="0" y="499"/>
              <a:ext cx="545" cy="529"/>
            </a:xfrm>
            <a:prstGeom prst="rect">
              <a:avLst/>
            </a:prstGeom>
            <a:solidFill>
              <a:srgbClr val="333333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/>
            <a:p>
              <a:endParaRPr lang="zh-CN" altLang="en-US" dirty="0">
                <a:latin typeface="Arial" panose="020B0604020202020204" pitchFamily="34" charset="0"/>
                <a:ea typeface="MS PGothic" panose="020B0600070205080204" pitchFamily="2" charset="-128"/>
              </a:endParaRPr>
            </a:p>
          </p:txBody>
        </p:sp>
        <p:sp>
          <p:nvSpPr>
            <p:cNvPr id="89" name="Rectangle 125"/>
            <p:cNvSpPr/>
            <p:nvPr>
              <p:custDataLst>
                <p:tags r:id="rId5"/>
              </p:custDataLst>
            </p:nvPr>
          </p:nvSpPr>
          <p:spPr>
            <a:xfrm>
              <a:off x="46" y="1028"/>
              <a:ext cx="453" cy="61"/>
            </a:xfrm>
            <a:prstGeom prst="rect">
              <a:avLst/>
            </a:prstGeom>
            <a:solidFill>
              <a:srgbClr val="333333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/>
            <a:p>
              <a:endParaRPr lang="zh-CN" altLang="en-US" dirty="0">
                <a:latin typeface="Arial" panose="020B0604020202020204" pitchFamily="34" charset="0"/>
                <a:ea typeface="MS PGothic" panose="020B0600070205080204" pitchFamily="2" charset="-128"/>
              </a:endParaRPr>
            </a:p>
          </p:txBody>
        </p:sp>
        <p:sp>
          <p:nvSpPr>
            <p:cNvPr id="90" name="Rectangle 126"/>
            <p:cNvSpPr/>
            <p:nvPr>
              <p:custDataLst>
                <p:tags r:id="rId6"/>
              </p:custDataLst>
            </p:nvPr>
          </p:nvSpPr>
          <p:spPr>
            <a:xfrm>
              <a:off x="0" y="1180"/>
              <a:ext cx="545" cy="181"/>
            </a:xfrm>
            <a:prstGeom prst="rect">
              <a:avLst/>
            </a:prstGeom>
            <a:gradFill rotWithShape="1">
              <a:gsLst>
                <a:gs pos="0">
                  <a:srgbClr val="696969"/>
                </a:gs>
                <a:gs pos="50000">
                  <a:srgbClr val="333333"/>
                </a:gs>
                <a:gs pos="100000">
                  <a:srgbClr val="696969"/>
                </a:gs>
              </a:gsLst>
              <a:lin ang="0" scaled="1"/>
              <a:tileRect/>
            </a:gra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/>
            <a:p>
              <a:endParaRPr lang="zh-CN" altLang="en-US" dirty="0">
                <a:latin typeface="Arial" panose="020B0604020202020204" pitchFamily="34" charset="0"/>
                <a:ea typeface="MS PGothic" panose="020B0600070205080204" pitchFamily="2" charset="-128"/>
              </a:endParaRPr>
            </a:p>
          </p:txBody>
        </p:sp>
        <p:sp>
          <p:nvSpPr>
            <p:cNvPr id="91" name="Rectangle 127"/>
            <p:cNvSpPr/>
            <p:nvPr>
              <p:custDataLst>
                <p:tags r:id="rId7"/>
              </p:custDataLst>
            </p:nvPr>
          </p:nvSpPr>
          <p:spPr>
            <a:xfrm>
              <a:off x="46" y="1098"/>
              <a:ext cx="453" cy="82"/>
            </a:xfrm>
            <a:prstGeom prst="rect">
              <a:avLst/>
            </a:prstGeom>
            <a:solidFill>
              <a:srgbClr val="808080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 dirty="0">
                <a:latin typeface="Arial" panose="020B0604020202020204" pitchFamily="34" charset="0"/>
                <a:ea typeface="MS PGothic" panose="020B0600070205080204" pitchFamily="2" charset="-128"/>
              </a:endParaRPr>
            </a:p>
          </p:txBody>
        </p:sp>
        <p:sp>
          <p:nvSpPr>
            <p:cNvPr id="92" name="Rectangle 129"/>
            <p:cNvSpPr/>
            <p:nvPr>
              <p:custDataLst>
                <p:tags r:id="rId8"/>
              </p:custDataLst>
            </p:nvPr>
          </p:nvSpPr>
          <p:spPr>
            <a:xfrm>
              <a:off x="46" y="1361"/>
              <a:ext cx="453" cy="46"/>
            </a:xfrm>
            <a:prstGeom prst="rect">
              <a:avLst/>
            </a:prstGeom>
            <a:gradFill rotWithShape="1">
              <a:gsLst>
                <a:gs pos="0">
                  <a:srgbClr val="696969"/>
                </a:gs>
                <a:gs pos="50000">
                  <a:srgbClr val="333333"/>
                </a:gs>
                <a:gs pos="100000">
                  <a:srgbClr val="696969"/>
                </a:gs>
              </a:gsLst>
              <a:lin ang="0" scaled="1"/>
              <a:tileRect/>
            </a:gra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/>
            <a:p>
              <a:endParaRPr lang="zh-CN" altLang="en-US" dirty="0">
                <a:latin typeface="Arial" panose="020B0604020202020204" pitchFamily="34" charset="0"/>
                <a:ea typeface="MS PGothic" panose="020B0600070205080204" pitchFamily="2" charset="-128"/>
              </a:endParaRPr>
            </a:p>
          </p:txBody>
        </p:sp>
        <p:sp>
          <p:nvSpPr>
            <p:cNvPr id="93" name="Rectangle 130"/>
            <p:cNvSpPr/>
            <p:nvPr>
              <p:custDataLst>
                <p:tags r:id="rId9"/>
              </p:custDataLst>
            </p:nvPr>
          </p:nvSpPr>
          <p:spPr>
            <a:xfrm>
              <a:off x="0" y="1407"/>
              <a:ext cx="545" cy="226"/>
            </a:xfrm>
            <a:prstGeom prst="rect">
              <a:avLst/>
            </a:prstGeom>
            <a:gradFill rotWithShape="1">
              <a:gsLst>
                <a:gs pos="0">
                  <a:srgbClr val="696969"/>
                </a:gs>
                <a:gs pos="50000">
                  <a:srgbClr val="333333"/>
                </a:gs>
                <a:gs pos="100000">
                  <a:srgbClr val="696969"/>
                </a:gs>
              </a:gsLst>
              <a:lin ang="0" scaled="1"/>
              <a:tileRect/>
            </a:gra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/>
            <a:p>
              <a:endParaRPr lang="zh-CN" altLang="en-US" dirty="0">
                <a:latin typeface="Arial" panose="020B0604020202020204" pitchFamily="34" charset="0"/>
                <a:ea typeface="MS PGothic" panose="020B0600070205080204" pitchFamily="2" charset="-128"/>
              </a:endParaRPr>
            </a:p>
          </p:txBody>
        </p:sp>
        <p:sp>
          <p:nvSpPr>
            <p:cNvPr id="94" name="Rectangle 131"/>
            <p:cNvSpPr/>
            <p:nvPr>
              <p:custDataLst>
                <p:tags r:id="rId10"/>
              </p:custDataLst>
            </p:nvPr>
          </p:nvSpPr>
          <p:spPr>
            <a:xfrm>
              <a:off x="46" y="1633"/>
              <a:ext cx="453" cy="46"/>
            </a:xfrm>
            <a:prstGeom prst="rect">
              <a:avLst/>
            </a:prstGeom>
            <a:gradFill rotWithShape="1">
              <a:gsLst>
                <a:gs pos="0">
                  <a:srgbClr val="696969"/>
                </a:gs>
                <a:gs pos="50000">
                  <a:srgbClr val="333333"/>
                </a:gs>
                <a:gs pos="100000">
                  <a:srgbClr val="696969"/>
                </a:gs>
              </a:gsLst>
              <a:lin ang="0" scaled="1"/>
              <a:tileRect/>
            </a:gra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/>
            <a:p>
              <a:endParaRPr lang="zh-CN" altLang="en-US" dirty="0">
                <a:latin typeface="Arial" panose="020B0604020202020204" pitchFamily="34" charset="0"/>
                <a:ea typeface="MS PGothic" panose="020B0600070205080204" pitchFamily="2" charset="-128"/>
              </a:endParaRPr>
            </a:p>
          </p:txBody>
        </p:sp>
        <p:sp>
          <p:nvSpPr>
            <p:cNvPr id="95" name="Rectangle 132"/>
            <p:cNvSpPr/>
            <p:nvPr>
              <p:custDataLst>
                <p:tags r:id="rId11"/>
              </p:custDataLst>
            </p:nvPr>
          </p:nvSpPr>
          <p:spPr>
            <a:xfrm>
              <a:off x="46" y="363"/>
              <a:ext cx="136" cy="136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50000">
                  <a:srgbClr val="808080"/>
                </a:gs>
                <a:gs pos="100000">
                  <a:schemeClr val="bg1"/>
                </a:gs>
              </a:gsLst>
              <a:lin ang="0" scaled="1"/>
              <a:tileRect/>
            </a:gra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/>
            <a:p>
              <a:endParaRPr lang="zh-CN" altLang="en-US" dirty="0">
                <a:latin typeface="Arial" panose="020B0604020202020204" pitchFamily="34" charset="0"/>
                <a:ea typeface="MS PGothic" panose="020B0600070205080204" pitchFamily="2" charset="-128"/>
              </a:endParaRPr>
            </a:p>
          </p:txBody>
        </p:sp>
        <p:sp>
          <p:nvSpPr>
            <p:cNvPr id="96" name="Rectangle 133"/>
            <p:cNvSpPr/>
            <p:nvPr>
              <p:custDataLst>
                <p:tags r:id="rId12"/>
              </p:custDataLst>
            </p:nvPr>
          </p:nvSpPr>
          <p:spPr>
            <a:xfrm>
              <a:off x="46" y="273"/>
              <a:ext cx="136" cy="90"/>
            </a:xfrm>
            <a:prstGeom prst="rect">
              <a:avLst/>
            </a:prstGeom>
            <a:gradFill rotWithShape="1">
              <a:gsLst>
                <a:gs pos="0">
                  <a:srgbClr val="696969"/>
                </a:gs>
                <a:gs pos="50000">
                  <a:srgbClr val="333333"/>
                </a:gs>
                <a:gs pos="100000">
                  <a:srgbClr val="696969"/>
                </a:gs>
              </a:gsLst>
              <a:lin ang="0" scaled="1"/>
              <a:tileRect/>
            </a:gra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/>
            <a:p>
              <a:endParaRPr lang="zh-CN" altLang="en-US" dirty="0">
                <a:latin typeface="Arial" panose="020B0604020202020204" pitchFamily="34" charset="0"/>
                <a:ea typeface="MS PGothic" panose="020B0600070205080204" pitchFamily="2" charset="-128"/>
              </a:endParaRPr>
            </a:p>
          </p:txBody>
        </p:sp>
        <p:sp>
          <p:nvSpPr>
            <p:cNvPr id="97" name="AutoShape 134"/>
            <p:cNvSpPr/>
            <p:nvPr>
              <p:custDataLst>
                <p:tags r:id="rId13"/>
              </p:custDataLst>
            </p:nvPr>
          </p:nvSpPr>
          <p:spPr>
            <a:xfrm rot="10800000">
              <a:off x="46" y="182"/>
              <a:ext cx="136" cy="91"/>
            </a:xfrm>
            <a:custGeom>
              <a:avLst/>
              <a:gdLst/>
              <a:ahLst/>
              <a:cxnLst>
                <a:cxn ang="0">
                  <a:pos x="119" y="45"/>
                </a:cxn>
                <a:cxn ang="0">
                  <a:pos x="68" y="91"/>
                </a:cxn>
                <a:cxn ang="0">
                  <a:pos x="17" y="45"/>
                </a:cxn>
                <a:cxn ang="0">
                  <a:pos x="68" y="0"/>
                </a:cxn>
              </a:cxnLst>
              <a:rect l="0" t="0" r="0" b="0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2"/>
                </a:gs>
                <a:gs pos="100000">
                  <a:srgbClr val="333333"/>
                </a:gs>
              </a:gsLst>
              <a:lin ang="2700000" scaled="1"/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8" name="Rectangle 135"/>
            <p:cNvSpPr/>
            <p:nvPr>
              <p:custDataLst>
                <p:tags r:id="rId14"/>
              </p:custDataLst>
            </p:nvPr>
          </p:nvSpPr>
          <p:spPr>
            <a:xfrm>
              <a:off x="91" y="0"/>
              <a:ext cx="45" cy="182"/>
            </a:xfrm>
            <a:prstGeom prst="rect">
              <a:avLst/>
            </a:prstGeom>
            <a:gradFill rotWithShape="1">
              <a:gsLst>
                <a:gs pos="0">
                  <a:srgbClr val="696969"/>
                </a:gs>
                <a:gs pos="50000">
                  <a:srgbClr val="333333"/>
                </a:gs>
                <a:gs pos="100000">
                  <a:srgbClr val="696969"/>
                </a:gs>
              </a:gsLst>
              <a:lin ang="0" scaled="1"/>
              <a:tileRect/>
            </a:gra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/>
            <a:p>
              <a:endParaRPr lang="zh-CN" altLang="en-US" dirty="0">
                <a:latin typeface="Arial" panose="020B0604020202020204" pitchFamily="34" charset="0"/>
                <a:ea typeface="MS PGothic" panose="020B0600070205080204" pitchFamily="2" charset="-128"/>
              </a:endParaRPr>
            </a:p>
          </p:txBody>
        </p:sp>
        <p:sp>
          <p:nvSpPr>
            <p:cNvPr id="99" name="Line 136"/>
            <p:cNvSpPr/>
            <p:nvPr>
              <p:custDataLst>
                <p:tags r:id="rId15"/>
              </p:custDataLst>
            </p:nvPr>
          </p:nvSpPr>
          <p:spPr>
            <a:xfrm>
              <a:off x="91" y="1089"/>
              <a:ext cx="0" cy="9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0" name="Line 137"/>
            <p:cNvSpPr/>
            <p:nvPr>
              <p:custDataLst>
                <p:tags r:id="rId16"/>
              </p:custDataLst>
            </p:nvPr>
          </p:nvSpPr>
          <p:spPr>
            <a:xfrm>
              <a:off x="136" y="1089"/>
              <a:ext cx="0" cy="9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1" name="Line 138"/>
            <p:cNvSpPr/>
            <p:nvPr>
              <p:custDataLst>
                <p:tags r:id="rId17"/>
              </p:custDataLst>
            </p:nvPr>
          </p:nvSpPr>
          <p:spPr>
            <a:xfrm>
              <a:off x="182" y="1089"/>
              <a:ext cx="0" cy="9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2" name="Line 139"/>
            <p:cNvSpPr/>
            <p:nvPr>
              <p:custDataLst>
                <p:tags r:id="rId18"/>
              </p:custDataLst>
            </p:nvPr>
          </p:nvSpPr>
          <p:spPr>
            <a:xfrm>
              <a:off x="227" y="1089"/>
              <a:ext cx="0" cy="9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3" name="Line 140"/>
            <p:cNvSpPr/>
            <p:nvPr>
              <p:custDataLst>
                <p:tags r:id="rId19"/>
              </p:custDataLst>
            </p:nvPr>
          </p:nvSpPr>
          <p:spPr>
            <a:xfrm>
              <a:off x="272" y="1089"/>
              <a:ext cx="0" cy="9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4" name="Line 141"/>
            <p:cNvSpPr/>
            <p:nvPr>
              <p:custDataLst>
                <p:tags r:id="rId20"/>
              </p:custDataLst>
            </p:nvPr>
          </p:nvSpPr>
          <p:spPr>
            <a:xfrm>
              <a:off x="318" y="1089"/>
              <a:ext cx="0" cy="9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5" name="Line 142"/>
            <p:cNvSpPr/>
            <p:nvPr>
              <p:custDataLst>
                <p:tags r:id="rId21"/>
              </p:custDataLst>
            </p:nvPr>
          </p:nvSpPr>
          <p:spPr>
            <a:xfrm>
              <a:off x="363" y="1089"/>
              <a:ext cx="0" cy="9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6" name="Line 143"/>
            <p:cNvSpPr/>
            <p:nvPr>
              <p:custDataLst>
                <p:tags r:id="rId22"/>
              </p:custDataLst>
            </p:nvPr>
          </p:nvSpPr>
          <p:spPr>
            <a:xfrm>
              <a:off x="408" y="1089"/>
              <a:ext cx="0" cy="9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7" name="Line 144"/>
            <p:cNvSpPr/>
            <p:nvPr>
              <p:custDataLst>
                <p:tags r:id="rId23"/>
              </p:custDataLst>
            </p:nvPr>
          </p:nvSpPr>
          <p:spPr>
            <a:xfrm>
              <a:off x="454" y="1089"/>
              <a:ext cx="0" cy="9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cxnSp>
        <p:nvCxnSpPr>
          <p:cNvPr id="110" name="直接连接符 109"/>
          <p:cNvCxnSpPr/>
          <p:nvPr>
            <p:custDataLst>
              <p:tags r:id="rId24"/>
            </p:custDataLst>
          </p:nvPr>
        </p:nvCxnSpPr>
        <p:spPr>
          <a:xfrm rot="10800000" flipH="1">
            <a:off x="8678545" y="4305300"/>
            <a:ext cx="2371725" cy="0"/>
          </a:xfrm>
          <a:prstGeom prst="line">
            <a:avLst/>
          </a:prstGeom>
          <a:noFill/>
          <a:ln w="9525" cmpd="sng">
            <a:solidFill>
              <a:srgbClr val="054BE0"/>
            </a:solidFill>
            <a:round/>
            <a:headEnd type="none" w="med" len="med"/>
            <a:tailEnd type="none"/>
          </a:ln>
        </p:spPr>
      </p:cxnSp>
      <p:cxnSp>
        <p:nvCxnSpPr>
          <p:cNvPr id="111" name="直接箭头连接符 110"/>
          <p:cNvCxnSpPr/>
          <p:nvPr>
            <p:custDataLst>
              <p:tags r:id="rId25"/>
            </p:custDataLst>
          </p:nvPr>
        </p:nvCxnSpPr>
        <p:spPr>
          <a:xfrm rot="10800000" flipH="1">
            <a:off x="10796905" y="1113155"/>
            <a:ext cx="9525" cy="3181985"/>
          </a:xfrm>
          <a:prstGeom prst="straightConnector1">
            <a:avLst/>
          </a:prstGeom>
          <a:noFill/>
          <a:ln w="9525" cmpd="sng">
            <a:solidFill>
              <a:srgbClr val="054BE0"/>
            </a:solidFill>
            <a:round/>
            <a:headEnd type="arrow" w="med" len="med"/>
            <a:tailEnd type="arrow"/>
          </a:ln>
        </p:spPr>
      </p:cxnSp>
      <p:sp>
        <p:nvSpPr>
          <p:cNvPr id="112" name="文本框 111"/>
          <p:cNvSpPr txBox="1"/>
          <p:nvPr>
            <p:custDataLst>
              <p:tags r:id="rId26"/>
            </p:custDataLst>
          </p:nvPr>
        </p:nvSpPr>
        <p:spPr>
          <a:xfrm>
            <a:off x="10929620" y="2576830"/>
            <a:ext cx="1099820" cy="460375"/>
          </a:xfrm>
          <a:prstGeom prst="rect">
            <a:avLst/>
          </a:prstGeom>
        </p:spPr>
        <p:txBody>
          <a:bodyPr wrap="square" anchor="t">
            <a:spAutoFit/>
          </a:bodyPr>
          <a:p>
            <a:pPr marL="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420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±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114" name="直接连接符 113"/>
          <p:cNvCxnSpPr/>
          <p:nvPr>
            <p:custDataLst>
              <p:tags r:id="rId27"/>
            </p:custDataLst>
          </p:nvPr>
        </p:nvCxnSpPr>
        <p:spPr>
          <a:xfrm rot="10800000" flipH="1">
            <a:off x="8660765" y="1101725"/>
            <a:ext cx="2371725" cy="0"/>
          </a:xfrm>
          <a:prstGeom prst="line">
            <a:avLst/>
          </a:prstGeom>
          <a:noFill/>
          <a:ln w="9525" cmpd="sng">
            <a:solidFill>
              <a:srgbClr val="054BE0"/>
            </a:solidFill>
            <a:round/>
            <a:headEnd type="none" w="med" len="med"/>
            <a:tailEnd type="none"/>
          </a:ln>
        </p:spPr>
      </p:cxnSp>
      <p:sp>
        <p:nvSpPr>
          <p:cNvPr id="115" name="矩形 114"/>
          <p:cNvSpPr/>
          <p:nvPr/>
        </p:nvSpPr>
        <p:spPr>
          <a:xfrm rot="10800000">
            <a:off x="8678545" y="1096645"/>
            <a:ext cx="441960" cy="7556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16" name="直接连接符 115"/>
          <p:cNvCxnSpPr/>
          <p:nvPr>
            <p:custDataLst>
              <p:tags r:id="rId28"/>
            </p:custDataLst>
          </p:nvPr>
        </p:nvCxnSpPr>
        <p:spPr>
          <a:xfrm rot="10800000" flipH="1">
            <a:off x="8196580" y="1619885"/>
            <a:ext cx="2371725" cy="0"/>
          </a:xfrm>
          <a:prstGeom prst="line">
            <a:avLst/>
          </a:prstGeom>
          <a:noFill/>
          <a:ln w="9525" cmpd="sng">
            <a:solidFill>
              <a:srgbClr val="054BE0"/>
            </a:solidFill>
            <a:round/>
            <a:headEnd type="none" w="med" len="med"/>
            <a:tailEnd type="none"/>
          </a:ln>
        </p:spPr>
      </p:cxnSp>
      <p:cxnSp>
        <p:nvCxnSpPr>
          <p:cNvPr id="117" name="直接箭头连接符 116"/>
          <p:cNvCxnSpPr/>
          <p:nvPr>
            <p:custDataLst>
              <p:tags r:id="rId29"/>
            </p:custDataLst>
          </p:nvPr>
        </p:nvCxnSpPr>
        <p:spPr>
          <a:xfrm rot="10800000">
            <a:off x="10074275" y="1122680"/>
            <a:ext cx="5080" cy="509905"/>
          </a:xfrm>
          <a:prstGeom prst="straightConnector1">
            <a:avLst/>
          </a:prstGeom>
          <a:noFill/>
          <a:ln w="9525" cmpd="sng">
            <a:solidFill>
              <a:srgbClr val="054BE0"/>
            </a:solidFill>
            <a:round/>
            <a:headEnd type="arrow" w="med" len="med"/>
            <a:tailEnd type="arrow"/>
          </a:ln>
        </p:spPr>
      </p:cxnSp>
      <p:grpSp>
        <p:nvGrpSpPr>
          <p:cNvPr id="3" name="组合 2"/>
          <p:cNvGrpSpPr/>
          <p:nvPr/>
        </p:nvGrpSpPr>
        <p:grpSpPr>
          <a:xfrm rot="10800000">
            <a:off x="7861300" y="1619885"/>
            <a:ext cx="1924050" cy="764540"/>
            <a:chOff x="13232" y="4191"/>
            <a:chExt cx="3030" cy="1204"/>
          </a:xfrm>
        </p:grpSpPr>
        <p:sp>
          <p:nvSpPr>
            <p:cNvPr id="119" name="矩形 118"/>
            <p:cNvSpPr/>
            <p:nvPr/>
          </p:nvSpPr>
          <p:spPr>
            <a:xfrm>
              <a:off x="13232" y="4215"/>
              <a:ext cx="3030" cy="1180"/>
            </a:xfrm>
            <a:prstGeom prst="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120" name="直接连接符 119"/>
            <p:cNvCxnSpPr/>
            <p:nvPr/>
          </p:nvCxnSpPr>
          <p:spPr>
            <a:xfrm>
              <a:off x="13917" y="4191"/>
              <a:ext cx="260" cy="450"/>
            </a:xfrm>
            <a:prstGeom prst="line">
              <a:avLst/>
            </a:prstGeom>
            <a:ln w="28575" cmpd="sng">
              <a:solidFill>
                <a:srgbClr val="FFC000"/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1" name="直接连接符 120"/>
            <p:cNvCxnSpPr/>
            <p:nvPr/>
          </p:nvCxnSpPr>
          <p:spPr>
            <a:xfrm flipH="1">
              <a:off x="15122" y="4218"/>
              <a:ext cx="228" cy="444"/>
            </a:xfrm>
            <a:prstGeom prst="line">
              <a:avLst/>
            </a:prstGeom>
            <a:ln w="28575" cmpd="sng">
              <a:solidFill>
                <a:srgbClr val="FFC000"/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2" name="直接连接符 121"/>
            <p:cNvCxnSpPr/>
            <p:nvPr/>
          </p:nvCxnSpPr>
          <p:spPr>
            <a:xfrm flipH="1" flipV="1">
              <a:off x="14177" y="4642"/>
              <a:ext cx="953" cy="6"/>
            </a:xfrm>
            <a:prstGeom prst="line">
              <a:avLst/>
            </a:prstGeom>
            <a:ln w="28575" cmpd="sng">
              <a:solidFill>
                <a:srgbClr val="FFC000"/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3" name="直接连接符 122"/>
            <p:cNvCxnSpPr/>
            <p:nvPr/>
          </p:nvCxnSpPr>
          <p:spPr>
            <a:xfrm flipH="1" flipV="1">
              <a:off x="14177" y="4641"/>
              <a:ext cx="4" cy="746"/>
            </a:xfrm>
            <a:prstGeom prst="line">
              <a:avLst/>
            </a:prstGeom>
            <a:ln w="28575" cmpd="sng">
              <a:solidFill>
                <a:srgbClr val="FFC000"/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4" name="直接连接符 123"/>
            <p:cNvCxnSpPr/>
            <p:nvPr/>
          </p:nvCxnSpPr>
          <p:spPr>
            <a:xfrm flipH="1" flipV="1">
              <a:off x="15126" y="4649"/>
              <a:ext cx="4" cy="746"/>
            </a:xfrm>
            <a:prstGeom prst="line">
              <a:avLst/>
            </a:prstGeom>
            <a:ln w="28575" cmpd="sng">
              <a:solidFill>
                <a:srgbClr val="FFC000"/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aphicFrame>
        <p:nvGraphicFramePr>
          <p:cNvPr id="125" name="表格 124"/>
          <p:cNvGraphicFramePr/>
          <p:nvPr>
            <p:custDataLst>
              <p:tags r:id="rId30"/>
            </p:custDataLst>
          </p:nvPr>
        </p:nvGraphicFramePr>
        <p:xfrm>
          <a:off x="617855" y="1590675"/>
          <a:ext cx="4799330" cy="4284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3530"/>
                <a:gridCol w="3225800"/>
              </a:tblGrid>
              <a:tr h="6089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规格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参数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63055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/>
                        <a:t>相机</a:t>
                      </a:r>
                      <a:endParaRPr lang="zh-CN" altLang="en-US" sz="16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lvl="0" algn="just"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sym typeface="+mn-ea"/>
                        </a:rPr>
                        <a:t>1200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  <a:sym typeface="+mn-ea"/>
                        </a:rPr>
                        <a:t>万黑白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  <a:sym typeface="+mn-ea"/>
                        </a:rPr>
                        <a:t>卷帘</a:t>
                      </a:r>
                      <a:endParaRPr lang="zh-CN" altLang="en-US" sz="1600" dirty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anchor="ctr" anchorCtr="0"/>
                </a:tc>
              </a:tr>
              <a:tr h="6089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/>
                        <a:t>镜头</a:t>
                      </a:r>
                      <a:endParaRPr lang="zh-CN" altLang="en-US" sz="16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600" dirty="0">
                          <a:solidFill>
                            <a:schemeClr val="tx1"/>
                          </a:solidFill>
                          <a:sym typeface="+mn-ea"/>
                        </a:rPr>
                        <a:t>50mmFA 镜头</a:t>
                      </a:r>
                      <a:endParaRPr lang="zh-CN" altLang="en-US" sz="1600" dirty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anchor="ctr" anchorCtr="0"/>
                </a:tc>
              </a:tr>
              <a:tr h="6089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/>
                        <a:t>光源</a:t>
                      </a:r>
                      <a:endParaRPr lang="zh-CN" altLang="en-US" sz="16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sym typeface="+mn-ea"/>
                        </a:rPr>
                        <a:t>TSD-RIF8860W</a:t>
                      </a:r>
                      <a:endParaRPr lang="en-US" sz="1600" dirty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anchor="ctr" anchorCtr="0"/>
                </a:tc>
              </a:tr>
              <a:tr h="6096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/>
                        <a:t>视野</a:t>
                      </a:r>
                      <a:endParaRPr lang="zh-CN" altLang="en-US" sz="16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sym typeface="+mn-ea"/>
                        </a:rPr>
                        <a:t>6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  <a:sym typeface="+mn-ea"/>
                        </a:rPr>
                        <a:t>3*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sym typeface="+mn-ea"/>
                        </a:rPr>
                        <a:t>47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  <a:sym typeface="+mn-ea"/>
                        </a:rPr>
                        <a:t>mm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</a:tr>
              <a:tr h="6089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/>
                        <a:t>分辨率</a:t>
                      </a:r>
                      <a:endParaRPr lang="zh-CN" altLang="en-US" sz="16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0.015mm</a:t>
                      </a:r>
                      <a:r>
                        <a:rPr lang="zh-CN" altLang="en-US" sz="1800">
                          <a:sym typeface="+mn-ea"/>
                        </a:rPr>
                        <a:t>/pixel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6089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/>
                        <a:t>定位</a:t>
                      </a:r>
                      <a:r>
                        <a:rPr lang="en-US" altLang="zh-CN" sz="1600"/>
                        <a:t>/</a:t>
                      </a:r>
                      <a:r>
                        <a:rPr lang="zh-CN" altLang="en-US" sz="1600"/>
                        <a:t>检测精度</a:t>
                      </a:r>
                      <a:endParaRPr lang="zh-CN" altLang="en-US" sz="16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±0.1mm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126" name="文本框 125"/>
          <p:cNvSpPr txBox="1"/>
          <p:nvPr/>
        </p:nvSpPr>
        <p:spPr>
          <a:xfrm>
            <a:off x="617855" y="1068705"/>
            <a:ext cx="134302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None/>
            </a:pPr>
            <a:r>
              <a:rPr lang="zh-CN" altLang="en-US" sz="2400">
                <a:sym typeface="+mn-ea"/>
              </a:rPr>
              <a:t>配置：</a:t>
            </a:r>
            <a:endParaRPr lang="zh-CN" altLang="en-US" sz="2400">
              <a:sym typeface="+mn-ea"/>
            </a:endParaRPr>
          </a:p>
        </p:txBody>
      </p:sp>
      <p:cxnSp>
        <p:nvCxnSpPr>
          <p:cNvPr id="127" name="直接连接符 126"/>
          <p:cNvCxnSpPr/>
          <p:nvPr/>
        </p:nvCxnSpPr>
        <p:spPr>
          <a:xfrm>
            <a:off x="6123940" y="1013460"/>
            <a:ext cx="0" cy="5580380"/>
          </a:xfrm>
          <a:prstGeom prst="line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588645" y="6265545"/>
            <a:ext cx="6464300" cy="506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  <a:sym typeface="+mn-ea"/>
              </a:rPr>
              <a:t>（客户要求未明确，后续硬件型号可能会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更改）</a:t>
            </a:r>
            <a:endParaRPr lang="zh-CN" altLang="en-US" b="1" dirty="0">
              <a:solidFill>
                <a:srgbClr val="FF0000"/>
              </a:solidFill>
              <a:sym typeface="+mn-ea"/>
            </a:endParaRPr>
          </a:p>
        </p:txBody>
      </p:sp>
    </p:spTree>
    <p:custDataLst>
      <p:tags r:id="rId3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806450" y="1234440"/>
            <a:ext cx="7404735" cy="28905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sz="2000" b="1" dirty="0">
                <a:sym typeface="+mn-ea"/>
              </a:rPr>
              <a:t>检测内容：</a:t>
            </a:r>
            <a:r>
              <a:rPr lang="zh-CN" altLang="en-US">
                <a:sym typeface="+mn-ea"/>
              </a:rPr>
              <a:t>检测波形垫</a:t>
            </a:r>
            <a:r>
              <a:rPr lang="en-US" altLang="zh-CN">
                <a:sym typeface="+mn-ea"/>
              </a:rPr>
              <a:t>+</a:t>
            </a:r>
            <a:r>
              <a:rPr lang="zh-CN" altLang="en-US">
                <a:sym typeface="+mn-ea"/>
              </a:rPr>
              <a:t>胶圈有无检测。</a:t>
            </a:r>
            <a:endParaRPr lang="zh-CN" altLang="en-US"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tx1"/>
                </a:solidFill>
              </a:rPr>
              <a:t>检测说明：</a:t>
            </a:r>
            <a:endParaRPr lang="zh-CN" altLang="en-US" sz="2000" b="1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dirty="0">
                <a:solidFill>
                  <a:schemeClr val="tx1"/>
                </a:solidFill>
              </a:rPr>
              <a:t>由于无实际样品进行测试，且</a:t>
            </a:r>
            <a:r>
              <a:rPr lang="zh-CN" altLang="en-US">
                <a:sym typeface="+mn-ea"/>
              </a:rPr>
              <a:t>波形垫与胶圈的高度差较大，存在拍摄两次的可能性。</a:t>
            </a:r>
            <a:endParaRPr lang="en-US" altLang="zh-CN" dirty="0">
              <a:solidFill>
                <a:schemeClr val="tx1"/>
              </a:solidFill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dirty="0">
                <a:solidFill>
                  <a:schemeClr val="tx1"/>
                </a:solidFill>
                <a:sym typeface="+mn-ea"/>
              </a:rPr>
              <a:t>相机建议安装在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Z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轴上，确保当需要拍摄两次时，可调节相机高度。</a:t>
            </a:r>
            <a:endParaRPr lang="en-US" altLang="zh-CN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8921750" y="1205865"/>
            <a:ext cx="2387600" cy="22606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9577070" y="2938145"/>
            <a:ext cx="1073785" cy="75120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椭圆 23"/>
          <p:cNvSpPr/>
          <p:nvPr/>
        </p:nvSpPr>
        <p:spPr>
          <a:xfrm>
            <a:off x="9201785" y="1437640"/>
            <a:ext cx="1849120" cy="182245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椭圆 24"/>
          <p:cNvSpPr/>
          <p:nvPr/>
        </p:nvSpPr>
        <p:spPr>
          <a:xfrm>
            <a:off x="8986520" y="2486025"/>
            <a:ext cx="83820" cy="76200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椭圆 25"/>
          <p:cNvSpPr/>
          <p:nvPr/>
        </p:nvSpPr>
        <p:spPr>
          <a:xfrm>
            <a:off x="9554210" y="3232150"/>
            <a:ext cx="83820" cy="76200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椭圆 28"/>
          <p:cNvSpPr/>
          <p:nvPr/>
        </p:nvSpPr>
        <p:spPr>
          <a:xfrm>
            <a:off x="11137900" y="2613025"/>
            <a:ext cx="83820" cy="76200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椭圆 29"/>
          <p:cNvSpPr/>
          <p:nvPr/>
        </p:nvSpPr>
        <p:spPr>
          <a:xfrm>
            <a:off x="10567035" y="3260090"/>
            <a:ext cx="83820" cy="76200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椭圆 30"/>
          <p:cNvSpPr/>
          <p:nvPr/>
        </p:nvSpPr>
        <p:spPr>
          <a:xfrm>
            <a:off x="9114790" y="1356995"/>
            <a:ext cx="2015490" cy="1990725"/>
          </a:xfrm>
          <a:prstGeom prst="ellipse">
            <a:avLst/>
          </a:prstGeom>
          <a:noFill/>
          <a:ln w="28575">
            <a:solidFill>
              <a:schemeClr val="accent1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9812655" y="2938145"/>
            <a:ext cx="631825" cy="751205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2" name="直接连接符 31"/>
          <p:cNvCxnSpPr/>
          <p:nvPr/>
        </p:nvCxnSpPr>
        <p:spPr>
          <a:xfrm flipH="1">
            <a:off x="9737090" y="3258820"/>
            <a:ext cx="6350" cy="438785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 flipH="1">
            <a:off x="10513695" y="3260090"/>
            <a:ext cx="6350" cy="438785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4" name="矩形 33"/>
          <p:cNvSpPr/>
          <p:nvPr/>
        </p:nvSpPr>
        <p:spPr>
          <a:xfrm>
            <a:off x="9788525" y="1973580"/>
            <a:ext cx="718185" cy="690880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文本框 51"/>
          <p:cNvSpPr txBox="1"/>
          <p:nvPr/>
        </p:nvSpPr>
        <p:spPr>
          <a:xfrm>
            <a:off x="9356725" y="3840480"/>
            <a:ext cx="186499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 dirty="0">
                <a:sym typeface="+mn-ea"/>
              </a:rPr>
              <a:t>检测俯视图</a:t>
            </a:r>
            <a:endParaRPr lang="zh-CN" altLang="en-US" b="1" dirty="0">
              <a:sym typeface="+mn-ea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9848850" y="1994535"/>
            <a:ext cx="574675" cy="618490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28575">
            <a:solidFill>
              <a:srgbClr val="FFFF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9890760" y="2059940"/>
            <a:ext cx="491490" cy="497205"/>
          </a:xfrm>
          <a:prstGeom prst="ellipse">
            <a:avLst/>
          </a:prstGeom>
          <a:noFill/>
          <a:ln w="38100">
            <a:solidFill>
              <a:schemeClr val="accent1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6" name="矩形 55"/>
          <p:cNvSpPr/>
          <p:nvPr userDrawn="1"/>
        </p:nvSpPr>
        <p:spPr>
          <a:xfrm>
            <a:off x="300355" y="153035"/>
            <a:ext cx="158750" cy="528320"/>
          </a:xfrm>
          <a:prstGeom prst="rect">
            <a:avLst/>
          </a:prstGeom>
          <a:solidFill>
            <a:srgbClr val="1A5CD6"/>
          </a:solidFill>
          <a:ln>
            <a:solidFill>
              <a:srgbClr val="0070C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57" name="直接连接符 56"/>
          <p:cNvCxnSpPr/>
          <p:nvPr userDrawn="1"/>
        </p:nvCxnSpPr>
        <p:spPr>
          <a:xfrm>
            <a:off x="379730" y="681355"/>
            <a:ext cx="1169352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标题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459105" y="43815"/>
            <a:ext cx="6935470" cy="543560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sz="4000">
                <a:sym typeface="+mn-ea"/>
              </a:rPr>
              <a:t>检测说明</a:t>
            </a:r>
            <a:r>
              <a:rPr lang="en-US" altLang="zh-CN" sz="4000">
                <a:sym typeface="+mn-ea"/>
              </a:rPr>
              <a:t>-</a:t>
            </a:r>
            <a:r>
              <a:rPr sz="4000">
                <a:sym typeface="+mn-ea"/>
              </a:rPr>
              <a:t>相机</a:t>
            </a:r>
            <a:r>
              <a:rPr lang="en-US" altLang="zh-CN" sz="4000">
                <a:sym typeface="+mn-ea"/>
              </a:rPr>
              <a:t>2</a:t>
            </a:r>
            <a:endParaRPr sz="4000">
              <a:sym typeface="+mn-ea"/>
            </a:endParaRPr>
          </a:p>
          <a:p>
            <a:pPr lvl="0"/>
            <a:endParaRPr sz="4000">
              <a:sym typeface="+mn-ea"/>
            </a:endParaRPr>
          </a:p>
        </p:txBody>
      </p:sp>
      <p:sp>
        <p:nvSpPr>
          <p:cNvPr id="3" name="文本框 2"/>
          <p:cNvSpPr txBox="1"/>
          <p:nvPr userDrawn="1"/>
        </p:nvSpPr>
        <p:spPr>
          <a:xfrm>
            <a:off x="10358755" y="19050"/>
            <a:ext cx="1861820" cy="6432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WPS灵秀黑" charset="-122"/>
              </a:rPr>
              <a:t>YD Vision</a:t>
            </a:r>
            <a:endParaRPr lang="en-US" altLang="zh-CN" sz="2800" b="1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  <a:sym typeface="WPS灵秀黑" charset="-122"/>
            </a:endParaRPr>
          </a:p>
          <a:p>
            <a:r>
              <a:rPr lang="en-US" altLang="zh-CN" sz="12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Better Service</a:t>
            </a:r>
            <a:endParaRPr lang="en-US" altLang="zh-CN" sz="1200" b="1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41400" y="4772025"/>
            <a:ext cx="646430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  <a:sym typeface="+mn-ea"/>
              </a:rPr>
              <a:t>（针对多个相机的情况，检测内容一样的相机可以合并描写，不一样的需要独立描述，原则如之前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所述）</a:t>
            </a:r>
            <a:endParaRPr lang="zh-CN" altLang="en-US" b="1" dirty="0">
              <a:solidFill>
                <a:srgbClr val="FF0000"/>
              </a:solidFill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矩形 83"/>
          <p:cNvSpPr/>
          <p:nvPr userDrawn="1"/>
        </p:nvSpPr>
        <p:spPr>
          <a:xfrm>
            <a:off x="0" y="-26670"/>
            <a:ext cx="12261215" cy="6884670"/>
          </a:xfrm>
          <a:prstGeom prst="rect">
            <a:avLst/>
          </a:prstGeom>
          <a:gradFill>
            <a:gsLst>
              <a:gs pos="76000">
                <a:srgbClr val="FFFFFF">
                  <a:alpha val="75000"/>
                </a:srgbClr>
              </a:gs>
              <a:gs pos="90000">
                <a:srgbClr val="FFFFFF">
                  <a:alpha val="100000"/>
                </a:srgbClr>
              </a:gs>
              <a:gs pos="12000">
                <a:srgbClr val="B1DCFD"/>
              </a:gs>
            </a:gsLst>
            <a:lin ang="0" scaled="0"/>
          </a:gradFill>
          <a:ln>
            <a:noFill/>
          </a:ln>
          <a:effectLst>
            <a:reflection stA="0" endPos="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2660650" y="1816735"/>
            <a:ext cx="6623050" cy="1438275"/>
          </a:xfrm>
        </p:spPr>
        <p:txBody>
          <a:bodyPr lIns="91440" tIns="45720" rIns="91440" bIns="0" anchor="b" anchorCtr="0">
            <a:noAutofit/>
          </a:bodyPr>
          <a:lstStyle>
            <a:lvl1pPr algn="l">
              <a:defRPr sz="2800" b="1" spc="600" baseline="0">
                <a:latin typeface="Arial" panose="020B0604020202020204" pitchFamily="34" charset="0"/>
              </a:defRPr>
            </a:lvl1pPr>
          </a:lstStyle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</a:pPr>
            <a:r>
              <a:rPr lang="en-US" altLang="zh-CN" sz="6600" b="0" spc="150" dirty="0">
                <a:solidFill>
                  <a:schemeClr val="accent1"/>
                </a:solidFill>
                <a:ea typeface="+mn-ea"/>
                <a:cs typeface="+mn-cs"/>
              </a:rPr>
              <a:t>Thanks!</a:t>
            </a:r>
            <a:endParaRPr lang="en-US" altLang="zh-CN" sz="6600" b="0" spc="150" dirty="0">
              <a:solidFill>
                <a:schemeClr val="accent1"/>
              </a:solidFill>
              <a:ea typeface="+mn-ea"/>
              <a:cs typeface="+mn-cs"/>
            </a:endParaRPr>
          </a:p>
        </p:txBody>
      </p:sp>
      <p:sp>
        <p:nvSpPr>
          <p:cNvPr id="24" name="文本框 23"/>
          <p:cNvSpPr txBox="1"/>
          <p:nvPr userDrawn="1"/>
        </p:nvSpPr>
        <p:spPr>
          <a:xfrm>
            <a:off x="3274695" y="3429000"/>
            <a:ext cx="67386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 spc="150" dirty="0">
                <a:solidFill>
                  <a:schemeClr val="accent1"/>
                </a:solidFill>
                <a:uFillTx/>
                <a:latin typeface="Arial" panose="020B0604020202020204" pitchFamily="34" charset="0"/>
              </a:rPr>
              <a:t>机器视觉，</a:t>
            </a:r>
            <a:r>
              <a:rPr lang="en-US" altLang="zh-CN" sz="3600" spc="150" dirty="0">
                <a:solidFill>
                  <a:schemeClr val="accent1"/>
                </a:solidFill>
                <a:uFillTx/>
                <a:latin typeface="Arial" panose="020B0604020202020204" pitchFamily="34" charset="0"/>
              </a:rPr>
              <a:t>服务好才是真的好</a:t>
            </a:r>
            <a:r>
              <a:rPr lang="zh-CN" sz="32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。</a:t>
            </a:r>
            <a:endParaRPr lang="zh-CN" sz="3200" b="1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TABLE_BEAUTIFY" val="smartTable{5cb054c7-dcff-4cf0-a0d3-639bc40f62a3}"/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TEXT" val=""/>
</p:tagLst>
</file>

<file path=ppt/tags/tag7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TABLE_ENDDRAG_ORIGIN_RECT" val="377*337"/>
  <p:tag name="TABLE_ENDDRAG_RECT" val="57*141*377*337"/>
</p:tagLst>
</file>

<file path=ppt/tags/tag10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13.xml><?xml version="1.0" encoding="utf-8"?>
<p:tagLst xmlns:p="http://schemas.openxmlformats.org/presentationml/2006/main">
  <p:tag name="commondata" val="eyJoZGlkIjoiYjUyMjAzOWY0MjQyNjU1YTM5ZWI1MTgyMDk0N2M5MWU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1467</Words>
  <Application>WPS 演示</Application>
  <PresentationFormat>宽屏</PresentationFormat>
  <Paragraphs>157</Paragraphs>
  <Slides>8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Arial</vt:lpstr>
      <vt:lpstr>宋体</vt:lpstr>
      <vt:lpstr>Wingdings</vt:lpstr>
      <vt:lpstr>Wingdings</vt:lpstr>
      <vt:lpstr>微软雅黑</vt:lpstr>
      <vt:lpstr>WPS灵秀黑</vt:lpstr>
      <vt:lpstr>Times New Roman</vt:lpstr>
      <vt:lpstr>MS PGothic</vt:lpstr>
      <vt:lpstr>Arial Unicode MS</vt:lpstr>
      <vt:lpstr>Calibri</vt:lpstr>
      <vt:lpstr>WPS</vt:lpstr>
      <vt:lpstr>Paint.Picture</vt:lpstr>
      <vt:lpstr>XXXX视觉方案书</vt:lpstr>
      <vt:lpstr>目录</vt:lpstr>
      <vt:lpstr>版本审阅</vt:lpstr>
      <vt:lpstr>客户需求</vt:lpstr>
      <vt:lpstr>PowerPoint 演示文稿</vt:lpstr>
      <vt:lpstr>PowerPoint 演示文稿</vt:lpstr>
      <vt:lpstr>PowerPoint 演示文稿</vt:lpstr>
      <vt:lpstr>Thanks!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王硕旋</cp:lastModifiedBy>
  <cp:revision>170</cp:revision>
  <dcterms:created xsi:type="dcterms:W3CDTF">2019-06-19T02:08:00Z</dcterms:created>
  <dcterms:modified xsi:type="dcterms:W3CDTF">2026-09-19T09:33:01Z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B390C62A639E46C4BDB5DD5C8F73C9B4_13</vt:lpwstr>
  </property>
</Properties>
</file>