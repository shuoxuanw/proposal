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16"/>
  </p:handoutMasterIdLst>
  <p:sldIdLst>
    <p:sldId id="256" r:id="rId3"/>
    <p:sldId id="257" r:id="rId4"/>
    <p:sldId id="258" r:id="rId5"/>
    <p:sldId id="290" r:id="rId6"/>
    <p:sldId id="397" r:id="rId8"/>
    <p:sldId id="399" r:id="rId9"/>
    <p:sldId id="365" r:id="rId10"/>
    <p:sldId id="398" r:id="rId11"/>
    <p:sldId id="409" r:id="rId12"/>
    <p:sldId id="406" r:id="rId13"/>
    <p:sldId id="347" r:id="rId14"/>
    <p:sldId id="266" r:id="rId15"/>
  </p:sldIdLst>
  <p:sldSz cx="12192000" cy="6858000"/>
  <p:notesSz cx="6858000" cy="9144000"/>
  <p:embeddedFontLst>
    <p:embeddedFont>
      <p:font typeface="微软雅黑" panose="020B0503020204020204" charset="-122"/>
      <p:regular r:id="rId20"/>
      <p:bold r:id="rId21"/>
    </p:embeddedFont>
    <p:embeddedFont>
      <p:font typeface="WPS灵秀黑" charset="-122"/>
      <p:regular r:id="rId22"/>
    </p:embeddedFont>
    <p:embeddedFont>
      <p:font typeface="华文中宋" panose="02010600040101010101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0" userDrawn="1">
          <p15:clr>
            <a:srgbClr val="A4A3A4"/>
          </p15:clr>
        </p15:guide>
        <p15:guide id="2" pos="39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48" y="58"/>
      </p:cViewPr>
      <p:guideLst>
        <p:guide orient="horz" pos="2310"/>
        <p:guide pos="392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93.xml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wwo</a:t>
            </a:r>
            <a:r>
              <a:rPr lang="zh-CN" altLang="en-US"/>
              <a:t>我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6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4.xml"/><Relationship Id="rId2" Type="http://schemas.openxmlformats.org/officeDocument/2006/relationships/image" Target="../media/image6.png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image" Target="../media/image7.png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8.xml"/><Relationship Id="rId2" Type="http://schemas.openxmlformats.org/officeDocument/2006/relationships/image" Target="../media/image8.png"/><Relationship Id="rId1" Type="http://schemas.openxmlformats.org/officeDocument/2006/relationships/tags" Target="../tags/tag8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0.xml"/><Relationship Id="rId2" Type="http://schemas.openxmlformats.org/officeDocument/2006/relationships/image" Target="../media/image9.png"/><Relationship Id="rId1" Type="http://schemas.openxmlformats.org/officeDocument/2006/relationships/tags" Target="../tags/tag8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/>
          <p:cNvSpPr/>
          <p:nvPr userDrawn="1"/>
        </p:nvSpPr>
        <p:spPr>
          <a:xfrm>
            <a:off x="0" y="0"/>
            <a:ext cx="12261215" cy="6884670"/>
          </a:xfrm>
          <a:prstGeom prst="rect">
            <a:avLst/>
          </a:prstGeom>
          <a:gradFill>
            <a:gsLst>
              <a:gs pos="76000">
                <a:srgbClr val="FFFFFF">
                  <a:alpha val="75000"/>
                </a:srgbClr>
              </a:gs>
              <a:gs pos="90000">
                <a:srgbClr val="FFFFFF">
                  <a:alpha val="100000"/>
                </a:srgbClr>
              </a:gs>
              <a:gs pos="12000">
                <a:srgbClr val="B1DCFD"/>
              </a:gs>
            </a:gsLst>
            <a:lin ang="0" scaled="0"/>
          </a:gradFill>
          <a:ln>
            <a:noFill/>
          </a:ln>
          <a:effectLst>
            <a:reflection stA="0" endPos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941320" y="1644015"/>
            <a:ext cx="6237605" cy="872490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2800" b="1" spc="600" baseline="0">
                <a:latin typeface="Arial" panose="020B0604020202020204" pitchFamily="34" charset="0"/>
              </a:defRPr>
            </a:lvl1pPr>
          </a:lstStyle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4000" b="0" spc="150" dirty="0">
                <a:solidFill>
                  <a:schemeClr val="accent1"/>
                </a:solidFill>
                <a:ea typeface="+mn-ea"/>
                <a:cs typeface="+mn-cs"/>
              </a:rPr>
              <a:t>盛普-胶路检测视觉方案</a:t>
            </a:r>
            <a:endParaRPr lang="zh-CN" altLang="en-US" sz="4000" b="0" spc="150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3540125" y="3194685"/>
            <a:ext cx="5024755" cy="2388870"/>
          </a:xfrm>
        </p:spPr>
        <p:txBody>
          <a:bodyPr lIns="91440" tIns="0" rIns="91440" bIns="4572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</a:rPr>
              <a:t>客户名称：上海盛</a:t>
            </a:r>
            <a:r>
              <a:rPr lang="zh-CN" altLang="en-US" sz="1600" spc="150" dirty="0">
                <a:solidFill>
                  <a:schemeClr val="accent1"/>
                </a:solidFill>
              </a:rPr>
              <a:t>普</a:t>
            </a:r>
            <a:endParaRPr lang="zh-CN" altLang="en-US" sz="1600" spc="150" dirty="0">
              <a:solidFill>
                <a:schemeClr val="accent1"/>
              </a:solidFill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</a:rPr>
              <a:t>技术窗口：</a:t>
            </a:r>
            <a:r>
              <a:rPr lang="zh-CN" altLang="en-US" sz="1600" spc="150" dirty="0">
                <a:solidFill>
                  <a:schemeClr val="accent1"/>
                </a:solidFill>
              </a:rPr>
              <a:t>华鑫</a:t>
            </a:r>
            <a:endParaRPr lang="zh-CN" altLang="en-US" sz="1600" spc="150" dirty="0">
              <a:solidFill>
                <a:schemeClr val="accent1"/>
              </a:solidFill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</a:rPr>
              <a:t>营业窗口：刘志民</a:t>
            </a:r>
            <a:endParaRPr lang="zh-CN" altLang="en-US" sz="1600" spc="150" dirty="0">
              <a:solidFill>
                <a:schemeClr val="accent1"/>
              </a:solidFill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</a:rPr>
              <a:t>营业电话：</a:t>
            </a:r>
            <a:r>
              <a:rPr lang="en-US" altLang="zh-CN" sz="1600" spc="150" dirty="0">
                <a:solidFill>
                  <a:schemeClr val="accent1"/>
                </a:solidFill>
              </a:rPr>
              <a:t>18929323022</a:t>
            </a:r>
            <a:endParaRPr lang="zh-CN" altLang="en-US" sz="1600" spc="150" dirty="0">
              <a:solidFill>
                <a:schemeClr val="accent1"/>
              </a:solidFill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  <a:sym typeface="+mn-ea"/>
              </a:rPr>
              <a:t>汇报时间:</a:t>
            </a:r>
            <a:r>
              <a:rPr lang="en-US" altLang="zh-CN" sz="1600" spc="150" dirty="0">
                <a:solidFill>
                  <a:schemeClr val="accent1"/>
                </a:solidFill>
                <a:sym typeface="+mn-ea"/>
              </a:rPr>
              <a:t>  2026.09.15</a:t>
            </a:r>
            <a:endParaRPr lang="en-US" sz="1600" spc="150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0" y="0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YD Vision</a:t>
            </a:r>
            <a:endParaRPr lang="en-US" altLang="zh-CN" sz="4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服务好，才是真的好</a:t>
            </a:r>
            <a:endParaRPr lang="zh-CN" altLang="en-US" sz="20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477510" y="2147311"/>
            <a:ext cx="7237036" cy="2055009"/>
            <a:chOff x="1068" y="4512"/>
            <a:chExt cx="11397" cy="3236"/>
          </a:xfrm>
        </p:grpSpPr>
        <p:grpSp>
          <p:nvGrpSpPr>
            <p:cNvPr id="8" name="组合 7"/>
            <p:cNvGrpSpPr/>
            <p:nvPr userDrawn="1"/>
          </p:nvGrpSpPr>
          <p:grpSpPr>
            <a:xfrm>
              <a:off x="1348" y="4512"/>
              <a:ext cx="1608" cy="1608"/>
              <a:chOff x="1644206" y="2323002"/>
              <a:chExt cx="1495425" cy="1495425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1644206" y="2323002"/>
                <a:ext cx="1495425" cy="1495425"/>
              </a:xfrm>
              <a:prstGeom prst="ellipse">
                <a:avLst/>
              </a:prstGeom>
              <a:noFill/>
              <a:ln>
                <a:solidFill>
                  <a:srgbClr val="59595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1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7685" y="2835431"/>
                <a:ext cx="789702" cy="566096"/>
              </a:xfrm>
              <a:prstGeom prst="rect">
                <a:avLst/>
              </a:prstGeom>
              <a:ln w="19050">
                <a:noFill/>
              </a:ln>
            </p:spPr>
          </p:pic>
        </p:grpSp>
        <p:sp>
          <p:nvSpPr>
            <p:cNvPr id="11" name="文本框 10"/>
            <p:cNvSpPr txBox="1"/>
            <p:nvPr userDrawn="1"/>
          </p:nvSpPr>
          <p:spPr>
            <a:xfrm>
              <a:off x="3754" y="6371"/>
              <a:ext cx="2435" cy="1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pc="4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方案解析</a:t>
              </a:r>
              <a:endParaRPr lang="en-US" altLang="zh-CN" spc="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en-US" altLang="zh-CN" sz="900" spc="5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SOLUTION ANALYSIS</a:t>
              </a:r>
              <a:endParaRPr lang="zh-CN" altLang="en-US" sz="900" spc="5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4286" y="4518"/>
              <a:ext cx="1608" cy="1608"/>
              <a:chOff x="4112234" y="2323002"/>
              <a:chExt cx="1495425" cy="1495425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4112234" y="2323002"/>
                <a:ext cx="1495425" cy="1495425"/>
              </a:xfrm>
              <a:prstGeom prst="ellipse">
                <a:avLst/>
              </a:prstGeom>
              <a:noFill/>
              <a:ln>
                <a:solidFill>
                  <a:srgbClr val="59595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analytics_345489"/>
              <p:cNvSpPr>
                <a:spLocks noChangeAspect="1"/>
              </p:cNvSpPr>
              <p:nvPr/>
            </p:nvSpPr>
            <p:spPr bwMode="auto">
              <a:xfrm>
                <a:off x="4534989" y="2755533"/>
                <a:ext cx="715114" cy="713944"/>
              </a:xfrm>
              <a:custGeom>
                <a:avLst/>
                <a:gdLst>
                  <a:gd name="connsiteX0" fmla="*/ 140058 w 608466"/>
                  <a:gd name="connsiteY0" fmla="*/ 391328 h 607471"/>
                  <a:gd name="connsiteX1" fmla="*/ 183230 w 608466"/>
                  <a:gd name="connsiteY1" fmla="*/ 434344 h 607471"/>
                  <a:gd name="connsiteX2" fmla="*/ 216467 w 608466"/>
                  <a:gd name="connsiteY2" fmla="*/ 467532 h 607471"/>
                  <a:gd name="connsiteX3" fmla="*/ 78226 w 608466"/>
                  <a:gd name="connsiteY3" fmla="*/ 605572 h 607471"/>
                  <a:gd name="connsiteX4" fmla="*/ 33941 w 608466"/>
                  <a:gd name="connsiteY4" fmla="*/ 583415 h 607471"/>
                  <a:gd name="connsiteX5" fmla="*/ 1910 w 608466"/>
                  <a:gd name="connsiteY5" fmla="*/ 529275 h 607471"/>
                  <a:gd name="connsiteX6" fmla="*/ 338845 w 608466"/>
                  <a:gd name="connsiteY6" fmla="*/ 166372 h 607471"/>
                  <a:gd name="connsiteX7" fmla="*/ 313032 w 608466"/>
                  <a:gd name="connsiteY7" fmla="*/ 210126 h 607471"/>
                  <a:gd name="connsiteX8" fmla="*/ 304583 w 608466"/>
                  <a:gd name="connsiteY8" fmla="*/ 215039 h 607471"/>
                  <a:gd name="connsiteX9" fmla="*/ 245621 w 608466"/>
                  <a:gd name="connsiteY9" fmla="*/ 215039 h 607471"/>
                  <a:gd name="connsiteX10" fmla="*/ 291026 w 608466"/>
                  <a:gd name="connsiteY10" fmla="*/ 316915 h 607471"/>
                  <a:gd name="connsiteX11" fmla="*/ 512666 w 608466"/>
                  <a:gd name="connsiteY11" fmla="*/ 316915 h 607471"/>
                  <a:gd name="connsiteX12" fmla="*/ 558164 w 608466"/>
                  <a:gd name="connsiteY12" fmla="*/ 215039 h 607471"/>
                  <a:gd name="connsiteX13" fmla="*/ 440055 w 608466"/>
                  <a:gd name="connsiteY13" fmla="*/ 215039 h 607471"/>
                  <a:gd name="connsiteX14" fmla="*/ 430770 w 608466"/>
                  <a:gd name="connsiteY14" fmla="*/ 208179 h 607471"/>
                  <a:gd name="connsiteX15" fmla="*/ 426963 w 608466"/>
                  <a:gd name="connsiteY15" fmla="*/ 196406 h 607471"/>
                  <a:gd name="connsiteX16" fmla="*/ 399478 w 608466"/>
                  <a:gd name="connsiteY16" fmla="*/ 308387 h 607471"/>
                  <a:gd name="connsiteX17" fmla="*/ 390193 w 608466"/>
                  <a:gd name="connsiteY17" fmla="*/ 315896 h 607471"/>
                  <a:gd name="connsiteX18" fmla="*/ 389914 w 608466"/>
                  <a:gd name="connsiteY18" fmla="*/ 315896 h 607471"/>
                  <a:gd name="connsiteX19" fmla="*/ 380536 w 608466"/>
                  <a:gd name="connsiteY19" fmla="*/ 308850 h 607471"/>
                  <a:gd name="connsiteX20" fmla="*/ 401846 w 608466"/>
                  <a:gd name="connsiteY20" fmla="*/ 49802 h 607471"/>
                  <a:gd name="connsiteX21" fmla="*/ 291026 w 608466"/>
                  <a:gd name="connsiteY21" fmla="*/ 95550 h 607471"/>
                  <a:gd name="connsiteX22" fmla="*/ 245714 w 608466"/>
                  <a:gd name="connsiteY22" fmla="*/ 195387 h 607471"/>
                  <a:gd name="connsiteX23" fmla="*/ 299011 w 608466"/>
                  <a:gd name="connsiteY23" fmla="*/ 195387 h 607471"/>
                  <a:gd name="connsiteX24" fmla="*/ 333367 w 608466"/>
                  <a:gd name="connsiteY24" fmla="*/ 136893 h 607471"/>
                  <a:gd name="connsiteX25" fmla="*/ 343024 w 608466"/>
                  <a:gd name="connsiteY25" fmla="*/ 132166 h 607471"/>
                  <a:gd name="connsiteX26" fmla="*/ 351287 w 608466"/>
                  <a:gd name="connsiteY26" fmla="*/ 139118 h 607471"/>
                  <a:gd name="connsiteX27" fmla="*/ 389079 w 608466"/>
                  <a:gd name="connsiteY27" fmla="*/ 268341 h 607471"/>
                  <a:gd name="connsiteX28" fmla="*/ 416192 w 608466"/>
                  <a:gd name="connsiteY28" fmla="*/ 157936 h 607471"/>
                  <a:gd name="connsiteX29" fmla="*/ 425384 w 608466"/>
                  <a:gd name="connsiteY29" fmla="*/ 150520 h 607471"/>
                  <a:gd name="connsiteX30" fmla="*/ 435041 w 608466"/>
                  <a:gd name="connsiteY30" fmla="*/ 157287 h 607471"/>
                  <a:gd name="connsiteX31" fmla="*/ 447297 w 608466"/>
                  <a:gd name="connsiteY31" fmla="*/ 195387 h 607471"/>
                  <a:gd name="connsiteX32" fmla="*/ 558071 w 608466"/>
                  <a:gd name="connsiteY32" fmla="*/ 195387 h 607471"/>
                  <a:gd name="connsiteX33" fmla="*/ 512666 w 608466"/>
                  <a:gd name="connsiteY33" fmla="*/ 95550 h 607471"/>
                  <a:gd name="connsiteX34" fmla="*/ 401846 w 608466"/>
                  <a:gd name="connsiteY34" fmla="*/ 49802 h 607471"/>
                  <a:gd name="connsiteX35" fmla="*/ 401846 w 608466"/>
                  <a:gd name="connsiteY35" fmla="*/ 0 h 607471"/>
                  <a:gd name="connsiteX36" fmla="*/ 547950 w 608466"/>
                  <a:gd name="connsiteY36" fmla="*/ 60417 h 607471"/>
                  <a:gd name="connsiteX37" fmla="*/ 547950 w 608466"/>
                  <a:gd name="connsiteY37" fmla="*/ 352048 h 607471"/>
                  <a:gd name="connsiteX38" fmla="*/ 274684 w 608466"/>
                  <a:gd name="connsiteY38" fmla="*/ 368549 h 607471"/>
                  <a:gd name="connsiteX39" fmla="*/ 247757 w 608466"/>
                  <a:gd name="connsiteY39" fmla="*/ 395524 h 607471"/>
                  <a:gd name="connsiteX40" fmla="*/ 258899 w 608466"/>
                  <a:gd name="connsiteY40" fmla="*/ 425281 h 607471"/>
                  <a:gd name="connsiteX41" fmla="*/ 236057 w 608466"/>
                  <a:gd name="connsiteY41" fmla="*/ 447992 h 607471"/>
                  <a:gd name="connsiteX42" fmla="*/ 159732 w 608466"/>
                  <a:gd name="connsiteY42" fmla="*/ 371700 h 607471"/>
                  <a:gd name="connsiteX43" fmla="*/ 182481 w 608466"/>
                  <a:gd name="connsiteY43" fmla="*/ 348989 h 607471"/>
                  <a:gd name="connsiteX44" fmla="*/ 212194 w 608466"/>
                  <a:gd name="connsiteY44" fmla="*/ 360113 h 607471"/>
                  <a:gd name="connsiteX45" fmla="*/ 239214 w 608466"/>
                  <a:gd name="connsiteY45" fmla="*/ 333138 h 607471"/>
                  <a:gd name="connsiteX46" fmla="*/ 255742 w 608466"/>
                  <a:gd name="connsiteY46" fmla="*/ 60417 h 607471"/>
                  <a:gd name="connsiteX47" fmla="*/ 401846 w 608466"/>
                  <a:gd name="connsiteY47" fmla="*/ 0 h 607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08466" h="607471">
                    <a:moveTo>
                      <a:pt x="140058" y="391328"/>
                    </a:moveTo>
                    <a:lnTo>
                      <a:pt x="183230" y="434344"/>
                    </a:lnTo>
                    <a:lnTo>
                      <a:pt x="216467" y="467532"/>
                    </a:lnTo>
                    <a:lnTo>
                      <a:pt x="78226" y="605572"/>
                    </a:lnTo>
                    <a:cubicBezTo>
                      <a:pt x="71449" y="612339"/>
                      <a:pt x="51859" y="600102"/>
                      <a:pt x="33941" y="583415"/>
                    </a:cubicBezTo>
                    <a:cubicBezTo>
                      <a:pt x="12680" y="563576"/>
                      <a:pt x="-6167" y="537433"/>
                      <a:pt x="1910" y="529275"/>
                    </a:cubicBezTo>
                    <a:close/>
                    <a:moveTo>
                      <a:pt x="338845" y="166372"/>
                    </a:moveTo>
                    <a:lnTo>
                      <a:pt x="313032" y="210126"/>
                    </a:lnTo>
                    <a:cubicBezTo>
                      <a:pt x="311268" y="213185"/>
                      <a:pt x="308111" y="215039"/>
                      <a:pt x="304583" y="215039"/>
                    </a:cubicBezTo>
                    <a:lnTo>
                      <a:pt x="245621" y="215039"/>
                    </a:lnTo>
                    <a:cubicBezTo>
                      <a:pt x="247664" y="252118"/>
                      <a:pt x="262706" y="288642"/>
                      <a:pt x="291026" y="316915"/>
                    </a:cubicBezTo>
                    <a:cubicBezTo>
                      <a:pt x="352123" y="377911"/>
                      <a:pt x="451569" y="377911"/>
                      <a:pt x="512666" y="316915"/>
                    </a:cubicBezTo>
                    <a:cubicBezTo>
                      <a:pt x="541079" y="288642"/>
                      <a:pt x="556028" y="252118"/>
                      <a:pt x="558164" y="215039"/>
                    </a:cubicBezTo>
                    <a:lnTo>
                      <a:pt x="440055" y="215039"/>
                    </a:lnTo>
                    <a:cubicBezTo>
                      <a:pt x="435784" y="215039"/>
                      <a:pt x="432069" y="212258"/>
                      <a:pt x="430770" y="208179"/>
                    </a:cubicBezTo>
                    <a:lnTo>
                      <a:pt x="426963" y="196406"/>
                    </a:lnTo>
                    <a:lnTo>
                      <a:pt x="399478" y="308387"/>
                    </a:lnTo>
                    <a:cubicBezTo>
                      <a:pt x="398457" y="312744"/>
                      <a:pt x="394557" y="315803"/>
                      <a:pt x="390193" y="315896"/>
                    </a:cubicBezTo>
                    <a:lnTo>
                      <a:pt x="389914" y="315896"/>
                    </a:lnTo>
                    <a:cubicBezTo>
                      <a:pt x="385550" y="315896"/>
                      <a:pt x="381743" y="313022"/>
                      <a:pt x="380536" y="308850"/>
                    </a:cubicBezTo>
                    <a:close/>
                    <a:moveTo>
                      <a:pt x="401846" y="49802"/>
                    </a:moveTo>
                    <a:cubicBezTo>
                      <a:pt x="361710" y="49802"/>
                      <a:pt x="321575" y="65052"/>
                      <a:pt x="291026" y="95550"/>
                    </a:cubicBezTo>
                    <a:cubicBezTo>
                      <a:pt x="263170" y="123359"/>
                      <a:pt x="248221" y="159048"/>
                      <a:pt x="245714" y="195387"/>
                    </a:cubicBezTo>
                    <a:lnTo>
                      <a:pt x="299011" y="195387"/>
                    </a:lnTo>
                    <a:lnTo>
                      <a:pt x="333367" y="136893"/>
                    </a:lnTo>
                    <a:cubicBezTo>
                      <a:pt x="335317" y="133556"/>
                      <a:pt x="339124" y="131610"/>
                      <a:pt x="343024" y="132166"/>
                    </a:cubicBezTo>
                    <a:cubicBezTo>
                      <a:pt x="346923" y="132629"/>
                      <a:pt x="350173" y="135318"/>
                      <a:pt x="351287" y="139118"/>
                    </a:cubicBezTo>
                    <a:lnTo>
                      <a:pt x="389079" y="268341"/>
                    </a:lnTo>
                    <a:lnTo>
                      <a:pt x="416192" y="157936"/>
                    </a:lnTo>
                    <a:cubicBezTo>
                      <a:pt x="417213" y="153672"/>
                      <a:pt x="420927" y="150613"/>
                      <a:pt x="425384" y="150520"/>
                    </a:cubicBezTo>
                    <a:cubicBezTo>
                      <a:pt x="429748" y="150057"/>
                      <a:pt x="433741" y="153116"/>
                      <a:pt x="435041" y="157287"/>
                    </a:cubicBezTo>
                    <a:lnTo>
                      <a:pt x="447297" y="195387"/>
                    </a:lnTo>
                    <a:lnTo>
                      <a:pt x="558071" y="195387"/>
                    </a:lnTo>
                    <a:cubicBezTo>
                      <a:pt x="555564" y="159048"/>
                      <a:pt x="540522" y="123359"/>
                      <a:pt x="512666" y="95550"/>
                    </a:cubicBezTo>
                    <a:cubicBezTo>
                      <a:pt x="482117" y="65052"/>
                      <a:pt x="441982" y="49802"/>
                      <a:pt x="401846" y="49802"/>
                    </a:cubicBezTo>
                    <a:close/>
                    <a:moveTo>
                      <a:pt x="401846" y="0"/>
                    </a:moveTo>
                    <a:cubicBezTo>
                      <a:pt x="454726" y="0"/>
                      <a:pt x="507605" y="20139"/>
                      <a:pt x="547950" y="60417"/>
                    </a:cubicBezTo>
                    <a:cubicBezTo>
                      <a:pt x="628639" y="140972"/>
                      <a:pt x="628639" y="271493"/>
                      <a:pt x="547950" y="352048"/>
                    </a:cubicBezTo>
                    <a:cubicBezTo>
                      <a:pt x="473296" y="426579"/>
                      <a:pt x="355744" y="432048"/>
                      <a:pt x="274684" y="368549"/>
                    </a:cubicBezTo>
                    <a:lnTo>
                      <a:pt x="247757" y="395524"/>
                    </a:lnTo>
                    <a:cubicBezTo>
                      <a:pt x="257785" y="408595"/>
                      <a:pt x="263542" y="420553"/>
                      <a:pt x="258899" y="425281"/>
                    </a:cubicBezTo>
                    <a:lnTo>
                      <a:pt x="236057" y="447992"/>
                    </a:lnTo>
                    <a:lnTo>
                      <a:pt x="159732" y="371700"/>
                    </a:lnTo>
                    <a:lnTo>
                      <a:pt x="182481" y="348989"/>
                    </a:lnTo>
                    <a:cubicBezTo>
                      <a:pt x="187216" y="344262"/>
                      <a:pt x="199102" y="350009"/>
                      <a:pt x="212194" y="360113"/>
                    </a:cubicBezTo>
                    <a:lnTo>
                      <a:pt x="239214" y="333138"/>
                    </a:lnTo>
                    <a:cubicBezTo>
                      <a:pt x="175703" y="252211"/>
                      <a:pt x="181088" y="134947"/>
                      <a:pt x="255742" y="60417"/>
                    </a:cubicBezTo>
                    <a:cubicBezTo>
                      <a:pt x="296086" y="20139"/>
                      <a:pt x="348966" y="0"/>
                      <a:pt x="401846" y="0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/>
            <p:nvPr userDrawn="1"/>
          </p:nvSpPr>
          <p:spPr>
            <a:xfrm>
              <a:off x="6845" y="6403"/>
              <a:ext cx="2369" cy="1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pc="4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物料清单</a:t>
              </a:r>
              <a:endParaRPr lang="en-US" altLang="zh-CN" spc="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lvl="0" algn="ctr">
                <a:lnSpc>
                  <a:spcPct val="150000"/>
                </a:lnSpc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BOM DETAILED LIST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18" name="组合 17"/>
            <p:cNvGrpSpPr/>
            <p:nvPr userDrawn="1"/>
          </p:nvGrpSpPr>
          <p:grpSpPr>
            <a:xfrm>
              <a:off x="7225" y="4518"/>
              <a:ext cx="1608" cy="1608"/>
              <a:chOff x="4112234" y="2323002"/>
              <a:chExt cx="1495425" cy="1495425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112234" y="2323002"/>
                <a:ext cx="1495425" cy="1495425"/>
              </a:xfrm>
              <a:prstGeom prst="ellipse">
                <a:avLst/>
              </a:prstGeom>
              <a:noFill/>
              <a:ln>
                <a:solidFill>
                  <a:srgbClr val="59595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analytics_345489"/>
              <p:cNvSpPr>
                <a:spLocks noChangeAspect="1"/>
              </p:cNvSpPr>
              <p:nvPr/>
            </p:nvSpPr>
            <p:spPr bwMode="auto">
              <a:xfrm>
                <a:off x="4502389" y="2720128"/>
                <a:ext cx="715114" cy="701170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1" name="文本框 20"/>
            <p:cNvSpPr txBox="1"/>
            <p:nvPr userDrawn="1"/>
          </p:nvSpPr>
          <p:spPr>
            <a:xfrm>
              <a:off x="9698" y="6403"/>
              <a:ext cx="2767" cy="13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pc="4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二维尺寸图</a:t>
              </a:r>
              <a:endParaRPr lang="en-US" altLang="zh-CN" spc="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TWO-DIMENSIONAL </a:t>
              </a:r>
              <a:endParaRPr lang="en-US" altLang="zh-CN" sz="9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/>
              <a:r>
                <a:rPr lang="en-US" altLang="zh-CN" sz="9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SIZE DIAGRAM</a:t>
              </a:r>
              <a:endParaRPr lang="zh-CN" altLang="en-US" sz="9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22" name="组合 21"/>
            <p:cNvGrpSpPr/>
            <p:nvPr userDrawn="1"/>
          </p:nvGrpSpPr>
          <p:grpSpPr>
            <a:xfrm>
              <a:off x="10164" y="4518"/>
              <a:ext cx="1608" cy="1608"/>
              <a:chOff x="6580262" y="2323002"/>
              <a:chExt cx="1495425" cy="1495425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6580262" y="2323002"/>
                <a:ext cx="1495425" cy="1495425"/>
              </a:xfrm>
              <a:prstGeom prst="ellipse">
                <a:avLst/>
              </a:prstGeom>
              <a:noFill/>
              <a:ln>
                <a:solidFill>
                  <a:srgbClr val="59595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598" y="2722669"/>
                <a:ext cx="685583" cy="685583"/>
              </a:xfrm>
              <a:prstGeom prst="rect">
                <a:avLst/>
              </a:prstGeom>
            </p:spPr>
          </p:pic>
        </p:grpSp>
        <p:sp>
          <p:nvSpPr>
            <p:cNvPr id="26" name="文本框 25"/>
            <p:cNvSpPr txBox="1"/>
            <p:nvPr userDrawn="1"/>
          </p:nvSpPr>
          <p:spPr>
            <a:xfrm>
              <a:off x="1068" y="6371"/>
              <a:ext cx="2197" cy="1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pc="4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版本审阅</a:t>
              </a:r>
              <a:endParaRPr lang="en-US" altLang="zh-CN" spc="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en-US" altLang="zh-CN" sz="900" spc="5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VERSION REVIEW</a:t>
              </a:r>
              <a:endParaRPr lang="zh-CN" altLang="en-US" sz="900" spc="5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7" name="标题 26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9105" y="109855"/>
            <a:ext cx="4894580" cy="54356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>
                <a:sym typeface="+mn-ea"/>
              </a:rPr>
              <a:t>目录</a:t>
            </a:r>
            <a:endParaRPr sz="4000">
              <a:sym typeface="+mn-ea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300355" y="21907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379730" y="74739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9105" y="102235"/>
            <a:ext cx="4894580" cy="54356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sz="4000">
                <a:sym typeface="+mn-ea"/>
              </a:rPr>
              <a:t>方案解析-版本审阅</a:t>
            </a:r>
            <a:endParaRPr sz="4000">
              <a:sym typeface="+mn-ea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300355" y="209550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 userDrawn="1"/>
        </p:nvCxnSpPr>
        <p:spPr>
          <a:xfrm>
            <a:off x="379730" y="737870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322070" y="1264285"/>
          <a:ext cx="9547225" cy="1842135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96975"/>
                <a:gridCol w="4212590"/>
                <a:gridCol w="2059940"/>
                <a:gridCol w="2077720"/>
              </a:tblGrid>
              <a:tr h="5429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Arial" panose="020B0604020202020204" pitchFamily="34" charset="0"/>
                          <a:ea typeface="微软雅黑" panose="020B0503020204020204" charset="-122"/>
                          <a:sym typeface="Arial" panose="020B0604020202020204" pitchFamily="34" charset="0"/>
                        </a:rPr>
                        <a:t>版本</a:t>
                      </a:r>
                      <a:endParaRPr lang="zh-CN" altLang="en-US" sz="1600" b="0" dirty="0">
                        <a:latin typeface="Arial" panose="020B0604020202020204" pitchFamily="34" charset="0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Arial" panose="020B0604020202020204" pitchFamily="34" charset="0"/>
                          <a:ea typeface="微软雅黑" panose="020B0503020204020204" charset="-122"/>
                          <a:sym typeface="Arial" panose="020B0604020202020204" pitchFamily="34" charset="0"/>
                        </a:rPr>
                        <a:t>修改原因</a:t>
                      </a:r>
                      <a:endParaRPr lang="zh-CN" altLang="en-US" sz="1600" b="0" dirty="0">
                        <a:latin typeface="Arial" panose="020B0604020202020204" pitchFamily="34" charset="0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Arial" panose="020B0604020202020204" pitchFamily="34" charset="0"/>
                          <a:ea typeface="微软雅黑" panose="020B0503020204020204" charset="-122"/>
                          <a:sym typeface="Arial" panose="020B0604020202020204" pitchFamily="34" charset="0"/>
                        </a:rPr>
                        <a:t>方案工程师</a:t>
                      </a:r>
                      <a:endParaRPr lang="zh-CN" altLang="en-US" sz="1600" b="0" dirty="0">
                        <a:latin typeface="Arial" panose="020B0604020202020204" pitchFamily="34" charset="0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Arial" panose="020B0604020202020204" pitchFamily="34" charset="0"/>
                          <a:ea typeface="微软雅黑" panose="020B0503020204020204" charset="-122"/>
                          <a:sym typeface="Arial" panose="020B0604020202020204" pitchFamily="34" charset="0"/>
                        </a:rPr>
                        <a:t>更新时间</a:t>
                      </a:r>
                      <a:endParaRPr lang="zh-CN" altLang="en-US" sz="1600" b="0" dirty="0">
                        <a:latin typeface="Arial" panose="020B0604020202020204" pitchFamily="34" charset="0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V1.0</a:t>
                      </a:r>
                      <a:endParaRPr lang="en-US" altLang="zh-CN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初版方案书制作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刘志民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2026.08.31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9605"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V2.0</a:t>
                      </a:r>
                      <a:endParaRPr lang="en-US" altLang="zh-CN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2D+3D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方案更新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华鑫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2026.09.15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26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9105" y="109855"/>
            <a:ext cx="4894580" cy="54356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>
                <a:sym typeface="+mn-ea"/>
              </a:rPr>
              <a:t>检测要求</a:t>
            </a:r>
            <a:endParaRPr sz="4000">
              <a:sym typeface="+mn-ea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300355" y="21907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379730" y="74739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50545" y="1198880"/>
            <a:ext cx="6625590" cy="3717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80000"/>
              </a:lnSpc>
            </a:pPr>
            <a:r>
              <a:rPr lang="zh-CN" altLang="en-US" sz="2000" b="1" dirty="0">
                <a:latin typeface="+mn-ea"/>
                <a:cs typeface="+mn-ea"/>
              </a:rPr>
              <a:t>产品名称：光伏</a:t>
            </a:r>
            <a:r>
              <a:rPr lang="zh-CN" altLang="en-US" sz="2000" b="1" dirty="0">
                <a:latin typeface="+mn-ea"/>
                <a:cs typeface="+mn-ea"/>
              </a:rPr>
              <a:t>板</a:t>
            </a:r>
            <a:endParaRPr lang="zh-CN" altLang="en-US" sz="2000" b="1" dirty="0">
              <a:latin typeface="+mn-ea"/>
              <a:cs typeface="+mn-ea"/>
            </a:endParaRPr>
          </a:p>
          <a:p>
            <a:pPr>
              <a:lnSpc>
                <a:spcPct val="180000"/>
              </a:lnSpc>
            </a:pPr>
            <a:r>
              <a:rPr lang="zh-CN" altLang="en-US" sz="2000" b="1" dirty="0">
                <a:latin typeface="+mn-ea"/>
                <a:cs typeface="+mn-ea"/>
              </a:rPr>
              <a:t>产品尺寸：</a:t>
            </a:r>
            <a:r>
              <a:rPr lang="en-US" altLang="zh-CN" sz="2000">
                <a:sym typeface="+mn-ea"/>
              </a:rPr>
              <a:t>M</a:t>
            </a:r>
            <a:r>
              <a:rPr lang="en-US" altLang="zh-CN" sz="2000">
                <a:sym typeface="+mn-ea"/>
              </a:rPr>
              <a:t>in: 1650*1134</a:t>
            </a:r>
            <a:endParaRPr lang="en-US" altLang="zh-CN" sz="2000"/>
          </a:p>
          <a:p>
            <a:pPr>
              <a:lnSpc>
                <a:spcPct val="180000"/>
              </a:lnSpc>
            </a:pPr>
            <a:r>
              <a:rPr lang="en-US" altLang="zh-CN" sz="2000">
                <a:sym typeface="+mn-ea"/>
              </a:rPr>
              <a:t>                  Max: 2530*1450</a:t>
            </a:r>
            <a:r>
              <a:rPr lang="en-US" altLang="zh-CN" sz="2000" dirty="0">
                <a:latin typeface="+mn-ea"/>
                <a:cs typeface="+mn-ea"/>
              </a:rPr>
              <a:t> </a:t>
            </a:r>
            <a:endParaRPr lang="en-US" altLang="zh-CN" sz="2000" dirty="0">
              <a:latin typeface="+mn-ea"/>
              <a:cs typeface="+mn-ea"/>
            </a:endParaRPr>
          </a:p>
          <a:p>
            <a:pPr>
              <a:lnSpc>
                <a:spcPct val="180000"/>
              </a:lnSpc>
            </a:pPr>
            <a:r>
              <a:rPr lang="zh-CN" altLang="en-US" sz="2000" b="1" dirty="0">
                <a:latin typeface="+mn-ea"/>
                <a:cs typeface="+mn-ea"/>
              </a:rPr>
              <a:t>检测说明：</a:t>
            </a:r>
            <a:br>
              <a:rPr lang="zh-CN" altLang="en-US" sz="1600" dirty="0">
                <a:latin typeface="+mn-ea"/>
                <a:cs typeface="+mn-ea"/>
              </a:rPr>
            </a:br>
            <a:r>
              <a:rPr lang="en-US" altLang="zh-CN" sz="1600" dirty="0">
                <a:latin typeface="+mn-ea"/>
                <a:cs typeface="+mn-ea"/>
                <a:sym typeface="+mn-ea"/>
              </a:rPr>
              <a:t>1.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点胶后检测：检测胶路宽度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&amp;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高度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/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是否存在断胶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/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胶路距离产品边缘距离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等。 </a:t>
            </a:r>
            <a:endParaRPr lang="zh-CN" altLang="en-US" sz="1600" dirty="0">
              <a:latin typeface="+mn-ea"/>
              <a:cs typeface="+mn-ea"/>
              <a:sym typeface="+mn-ea"/>
            </a:endParaRPr>
          </a:p>
          <a:p>
            <a:pPr>
              <a:lnSpc>
                <a:spcPct val="180000"/>
              </a:lnSpc>
            </a:pPr>
            <a:r>
              <a:rPr lang="en-US" altLang="zh-CN" sz="1600" dirty="0">
                <a:latin typeface="+mn-ea"/>
                <a:cs typeface="+mn-ea"/>
              </a:rPr>
              <a:t>2</a:t>
            </a:r>
            <a:r>
              <a:rPr lang="zh-CN" altLang="en-US" sz="1600" dirty="0">
                <a:latin typeface="+mn-ea"/>
                <a:cs typeface="+mn-ea"/>
              </a:rPr>
              <a:t>. 产品的边框为透明边框。</a:t>
            </a:r>
            <a:endParaRPr lang="zh-CN" altLang="en-US" sz="1600" dirty="0">
              <a:latin typeface="+mn-ea"/>
              <a:cs typeface="+mn-ea"/>
            </a:endParaRPr>
          </a:p>
          <a:p>
            <a:pPr>
              <a:lnSpc>
                <a:spcPct val="180000"/>
              </a:lnSpc>
            </a:pPr>
            <a:r>
              <a:rPr lang="en-US" altLang="zh-CN" sz="1600" dirty="0">
                <a:latin typeface="+mn-ea"/>
                <a:cs typeface="+mn-ea"/>
              </a:rPr>
              <a:t>3. </a:t>
            </a:r>
            <a:r>
              <a:rPr lang="zh-CN" altLang="en-US" sz="1600" dirty="0">
                <a:latin typeface="+mn-ea"/>
                <a:cs typeface="+mn-ea"/>
              </a:rPr>
              <a:t>产品在皮带上</a:t>
            </a:r>
            <a:r>
              <a:rPr lang="zh-CN" altLang="en-US" sz="1600" dirty="0">
                <a:latin typeface="+mn-ea"/>
                <a:cs typeface="+mn-ea"/>
              </a:rPr>
              <a:t>的移动速度</a:t>
            </a:r>
            <a:r>
              <a:rPr lang="en-US" altLang="zh-CN" sz="1600" dirty="0">
                <a:latin typeface="+mn-ea"/>
                <a:cs typeface="+mn-ea"/>
              </a:rPr>
              <a:t>~50</a:t>
            </a:r>
            <a:r>
              <a:rPr lang="en-US" altLang="zh-CN" sz="1600" dirty="0">
                <a:latin typeface="+mn-ea"/>
                <a:cs typeface="+mn-ea"/>
              </a:rPr>
              <a:t>0mm/s</a:t>
            </a:r>
            <a:r>
              <a:rPr lang="zh-CN" altLang="en-US" sz="1600" dirty="0">
                <a:latin typeface="+mn-ea"/>
                <a:cs typeface="+mn-ea"/>
              </a:rPr>
              <a:t>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76640" y="6104255"/>
            <a:ext cx="17754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latin typeface="+mn-ea"/>
                <a:cs typeface="+mn-ea"/>
                <a:sym typeface="+mn-ea"/>
              </a:rPr>
              <a:t>示意图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 rot="5400000">
            <a:off x="6983095" y="2294255"/>
            <a:ext cx="4365625" cy="2571750"/>
            <a:chOff x="10702" y="2188"/>
            <a:chExt cx="9940" cy="5410"/>
          </a:xfrm>
        </p:grpSpPr>
        <p:sp>
          <p:nvSpPr>
            <p:cNvPr id="32" name="矩形 31"/>
            <p:cNvSpPr/>
            <p:nvPr/>
          </p:nvSpPr>
          <p:spPr>
            <a:xfrm>
              <a:off x="10702" y="2188"/>
              <a:ext cx="9940" cy="541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1229" y="2593"/>
              <a:ext cx="8887" cy="45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 rot="5400000">
            <a:off x="7094220" y="2403475"/>
            <a:ext cx="4133850" cy="2346960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790555" y="1464945"/>
            <a:ext cx="14300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白色透明边框</a:t>
            </a:r>
            <a:endParaRPr lang="zh-CN" altLang="en-US" sz="160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0358755" y="2190750"/>
            <a:ext cx="404495" cy="38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0386060" y="1677670"/>
            <a:ext cx="404495" cy="38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0761980" y="2024380"/>
            <a:ext cx="14300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黑色</a:t>
            </a:r>
            <a:r>
              <a:rPr lang="zh-CN" altLang="en-US" sz="1600"/>
              <a:t>胶水</a:t>
            </a:r>
            <a:endParaRPr lang="zh-CN" altLang="en-US" sz="1600"/>
          </a:p>
        </p:txBody>
      </p:sp>
      <p:cxnSp>
        <p:nvCxnSpPr>
          <p:cNvPr id="2" name="直接箭头连接符 1"/>
          <p:cNvCxnSpPr/>
          <p:nvPr/>
        </p:nvCxnSpPr>
        <p:spPr>
          <a:xfrm>
            <a:off x="10259060" y="2837180"/>
            <a:ext cx="502285" cy="44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0792460" y="2661920"/>
            <a:ext cx="1430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白色膜</a:t>
            </a:r>
            <a:r>
              <a:rPr lang="zh-CN" altLang="en-US" sz="1600"/>
              <a:t>片</a:t>
            </a:r>
            <a:endParaRPr lang="zh-CN" altLang="en-US" sz="1600"/>
          </a:p>
          <a:p>
            <a:r>
              <a:rPr lang="en-US" altLang="zh-CN" sz="1600"/>
              <a:t>(EVA)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300355" y="15303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105" y="43815"/>
            <a:ext cx="8261350" cy="5435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 dirty="0">
                <a:sym typeface="+mn-ea"/>
              </a:rPr>
              <a:t>方案说明</a:t>
            </a:r>
            <a:r>
              <a:rPr lang="en-US" altLang="zh-CN" sz="4000" dirty="0">
                <a:sym typeface="+mn-ea"/>
              </a:rPr>
              <a:t>-</a:t>
            </a:r>
            <a:r>
              <a:rPr sz="4000" dirty="0">
                <a:sym typeface="+mn-ea"/>
              </a:rPr>
              <a:t>边点边检</a:t>
            </a:r>
            <a:r>
              <a:rPr sz="4000" dirty="0">
                <a:sym typeface="+mn-ea"/>
              </a:rPr>
              <a:t>方案</a:t>
            </a:r>
            <a:endParaRPr sz="4000" dirty="0"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0358755" y="19050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379730" y="68135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平行四边形 16"/>
          <p:cNvSpPr/>
          <p:nvPr/>
        </p:nvSpPr>
        <p:spPr>
          <a:xfrm>
            <a:off x="4064635" y="1892300"/>
            <a:ext cx="3217545" cy="2055495"/>
          </a:xfrm>
          <a:prstGeom prst="parallelogram">
            <a:avLst>
              <a:gd name="adj" fmla="val 3682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0" name="平行四边形 29"/>
          <p:cNvSpPr/>
          <p:nvPr/>
        </p:nvSpPr>
        <p:spPr>
          <a:xfrm>
            <a:off x="4225925" y="1971675"/>
            <a:ext cx="2893695" cy="1864360"/>
          </a:xfrm>
          <a:prstGeom prst="parallelogram">
            <a:avLst>
              <a:gd name="adj" fmla="val 36822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6" name="平行四边形 35"/>
          <p:cNvSpPr/>
          <p:nvPr/>
        </p:nvSpPr>
        <p:spPr>
          <a:xfrm>
            <a:off x="3501390" y="1596390"/>
            <a:ext cx="1146810" cy="2240280"/>
          </a:xfrm>
          <a:prstGeom prst="parallelogram">
            <a:avLst>
              <a:gd name="adj" fmla="val 89520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42" name="平行四边形 41"/>
          <p:cNvSpPr/>
          <p:nvPr/>
        </p:nvSpPr>
        <p:spPr>
          <a:xfrm>
            <a:off x="5739765" y="1647825"/>
            <a:ext cx="1146810" cy="2240280"/>
          </a:xfrm>
          <a:prstGeom prst="parallelogram">
            <a:avLst>
              <a:gd name="adj" fmla="val 89520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43" name="文本框 42"/>
          <p:cNvSpPr txBox="1"/>
          <p:nvPr/>
        </p:nvSpPr>
        <p:spPr>
          <a:xfrm>
            <a:off x="6918960" y="2946400"/>
            <a:ext cx="1360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检测位</a:t>
            </a:r>
            <a:endParaRPr lang="zh-CN" altLang="en-US" sz="1200"/>
          </a:p>
        </p:txBody>
      </p:sp>
      <p:sp>
        <p:nvSpPr>
          <p:cNvPr id="47" name="平行四边形 46"/>
          <p:cNvSpPr/>
          <p:nvPr/>
        </p:nvSpPr>
        <p:spPr>
          <a:xfrm>
            <a:off x="4255135" y="3746500"/>
            <a:ext cx="481330" cy="277495"/>
          </a:xfrm>
          <a:prstGeom prst="parallelogram">
            <a:avLst>
              <a:gd name="adj" fmla="val 36822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4" name="文本框 53"/>
          <p:cNvSpPr txBox="1"/>
          <p:nvPr/>
        </p:nvSpPr>
        <p:spPr>
          <a:xfrm>
            <a:off x="4617720" y="4331335"/>
            <a:ext cx="2663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检测方案</a:t>
            </a:r>
            <a:r>
              <a:rPr lang="en-US" altLang="zh-CN"/>
              <a:t>2-</a:t>
            </a:r>
            <a:r>
              <a:rPr lang="zh-CN" altLang="en-US"/>
              <a:t>单独检测</a:t>
            </a:r>
            <a:r>
              <a:rPr lang="zh-CN" altLang="en-US"/>
              <a:t>位</a:t>
            </a:r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600075" y="5046345"/>
            <a:ext cx="106546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sym typeface="+mn-ea"/>
              </a:rPr>
              <a:t>安装说明</a:t>
            </a:r>
            <a:r>
              <a:rPr lang="en-US" altLang="zh-CN" b="1">
                <a:sym typeface="+mn-ea"/>
              </a:rPr>
              <a:t>:  </a:t>
            </a:r>
            <a:endParaRPr lang="en-US" altLang="zh-CN" b="1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sym typeface="+mn-ea"/>
              </a:rPr>
              <a:t>1. </a:t>
            </a:r>
            <a:r>
              <a:rPr lang="zh-CN" altLang="en-US" sz="1400">
                <a:sym typeface="+mn-ea"/>
              </a:rPr>
              <a:t>长</a:t>
            </a:r>
            <a:r>
              <a:rPr lang="en-US" altLang="zh-CN" sz="1400">
                <a:sym typeface="+mn-ea"/>
              </a:rPr>
              <a:t>/</a:t>
            </a:r>
            <a:r>
              <a:rPr lang="zh-CN" altLang="en-US" sz="1400">
                <a:sym typeface="+mn-ea"/>
              </a:rPr>
              <a:t>短边检测：</a:t>
            </a:r>
            <a:r>
              <a:rPr lang="en-US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个</a:t>
            </a:r>
            <a:r>
              <a:rPr lang="en-US" altLang="zh-CN" sz="1400">
                <a:sym typeface="+mn-ea"/>
              </a:rPr>
              <a:t>2D</a:t>
            </a:r>
            <a:r>
              <a:rPr lang="zh-CN" altLang="en-US" sz="1400">
                <a:sym typeface="+mn-ea"/>
              </a:rPr>
              <a:t>相机</a:t>
            </a:r>
            <a:r>
              <a:rPr lang="en-US" altLang="zh-CN" sz="1400">
                <a:sym typeface="+mn-ea"/>
              </a:rPr>
              <a:t>+1</a:t>
            </a:r>
            <a:r>
              <a:rPr lang="zh-CN" altLang="en-US" sz="1400">
                <a:sym typeface="+mn-ea"/>
              </a:rPr>
              <a:t>个</a:t>
            </a:r>
            <a:r>
              <a:rPr lang="en-US" altLang="zh-CN" sz="1400">
                <a:sym typeface="+mn-ea"/>
              </a:rPr>
              <a:t>3D</a:t>
            </a:r>
            <a:r>
              <a:rPr lang="zh-CN" altLang="en-US" sz="1400">
                <a:sym typeface="+mn-ea"/>
              </a:rPr>
              <a:t>相机，安装在机构上，沿着产品的</a:t>
            </a:r>
            <a:r>
              <a:rPr lang="en-US" altLang="zh-CN" sz="1400">
                <a:sym typeface="+mn-ea"/>
              </a:rPr>
              <a:t>4</a:t>
            </a:r>
            <a:r>
              <a:rPr lang="zh-CN" altLang="en-US" sz="1400">
                <a:sym typeface="+mn-ea"/>
              </a:rPr>
              <a:t>条边</a:t>
            </a:r>
            <a:r>
              <a:rPr lang="zh-CN" altLang="en-US" sz="1400">
                <a:sym typeface="+mn-ea"/>
              </a:rPr>
              <a:t>检测。</a:t>
            </a:r>
            <a:endParaRPr lang="zh-CN" altLang="en-US" sz="1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429385" y="3155315"/>
            <a:ext cx="20218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2D</a:t>
            </a:r>
            <a:r>
              <a:rPr lang="zh-CN" altLang="en-US" sz="1600">
                <a:sym typeface="+mn-ea"/>
              </a:rPr>
              <a:t>检测</a:t>
            </a:r>
            <a:r>
              <a:rPr lang="zh-CN" altLang="en-US" sz="1600"/>
              <a:t>相机</a:t>
            </a:r>
            <a:endParaRPr lang="zh-CN" altLang="en-US" sz="1600"/>
          </a:p>
        </p:txBody>
      </p:sp>
      <p:cxnSp>
        <p:nvCxnSpPr>
          <p:cNvPr id="78" name="直接箭头连接符 77"/>
          <p:cNvCxnSpPr/>
          <p:nvPr/>
        </p:nvCxnSpPr>
        <p:spPr>
          <a:xfrm flipV="1">
            <a:off x="5431155" y="3458210"/>
            <a:ext cx="1959610" cy="133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/>
        </p:nvSpPr>
        <p:spPr>
          <a:xfrm>
            <a:off x="3162935" y="3519805"/>
            <a:ext cx="3528060" cy="76200"/>
          </a:xfrm>
          <a:prstGeom prst="parallelogram">
            <a:avLst>
              <a:gd name="adj" fmla="val 89520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6" name="平行四边形 5"/>
          <p:cNvSpPr/>
          <p:nvPr/>
        </p:nvSpPr>
        <p:spPr>
          <a:xfrm>
            <a:off x="4030345" y="1694815"/>
            <a:ext cx="3528060" cy="76200"/>
          </a:xfrm>
          <a:prstGeom prst="parallelogram">
            <a:avLst>
              <a:gd name="adj" fmla="val 89520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4866005" y="3775710"/>
            <a:ext cx="233045" cy="24130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4861560" y="3623310"/>
            <a:ext cx="131445" cy="385445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010150" y="3644265"/>
            <a:ext cx="92710" cy="13589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049905" y="3373755"/>
            <a:ext cx="142430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390765" y="3307080"/>
            <a:ext cx="20218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3D</a:t>
            </a:r>
            <a:r>
              <a:rPr lang="zh-CN" altLang="en-US" sz="1600">
                <a:sym typeface="+mn-ea"/>
              </a:rPr>
              <a:t>检测</a:t>
            </a:r>
            <a:r>
              <a:rPr lang="zh-CN" altLang="en-US" sz="1600"/>
              <a:t>相机</a:t>
            </a:r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/>
          <a:srcRect l="7025" t="7204" r="6527" b="5408"/>
          <a:stretch>
            <a:fillRect/>
          </a:stretch>
        </p:blipFill>
        <p:spPr>
          <a:xfrm>
            <a:off x="4400550" y="3388360"/>
            <a:ext cx="389890" cy="3435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560" y="3373755"/>
            <a:ext cx="426085" cy="2705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26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9105" y="109855"/>
            <a:ext cx="6336665" cy="597535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>
                <a:sym typeface="+mn-ea"/>
              </a:rPr>
              <a:t>安装示意图</a:t>
            </a:r>
            <a:r>
              <a:rPr lang="en-US" altLang="zh-CN" sz="4000">
                <a:sym typeface="+mn-ea"/>
              </a:rPr>
              <a:t>-2D-</a:t>
            </a:r>
            <a:r>
              <a:rPr sz="4000">
                <a:sym typeface="+mn-ea"/>
              </a:rPr>
              <a:t>胶宽检测</a:t>
            </a:r>
            <a:endParaRPr lang="en-US" altLang="zh-CN" sz="4000">
              <a:sym typeface="+mn-ea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300355" y="21907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379730" y="74739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17915" y="6114415"/>
            <a:ext cx="148653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安装示意图</a:t>
            </a:r>
            <a:endParaRPr lang="zh-CN" altLang="en-US" sz="2400" baseline="-25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0">
            <a:off x="7063105" y="1533525"/>
            <a:ext cx="4591685" cy="3991610"/>
            <a:chOff x="1581263" y="2130141"/>
            <a:chExt cx="3402126" cy="2960197"/>
          </a:xfrm>
        </p:grpSpPr>
        <p:pic>
          <p:nvPicPr>
            <p:cNvPr id="33" name="图片 3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print"/>
            <a:srcRect l="7025" t="7204" r="6527" b="5408"/>
            <a:stretch>
              <a:fillRect/>
            </a:stretch>
          </p:blipFill>
          <p:spPr>
            <a:xfrm>
              <a:off x="2296212" y="2410643"/>
              <a:ext cx="618490" cy="545465"/>
            </a:xfrm>
            <a:prstGeom prst="rect">
              <a:avLst/>
            </a:prstGeom>
            <a:ln w="12700" cmpd="sng">
              <a:noFill/>
              <a:prstDash val="sysDot"/>
            </a:ln>
          </p:spPr>
        </p:pic>
        <p:sp>
          <p:nvSpPr>
            <p:cNvPr id="34" name="矩形: 圆角 33"/>
            <p:cNvSpPr/>
            <p:nvPr/>
          </p:nvSpPr>
          <p:spPr>
            <a:xfrm>
              <a:off x="2378269" y="4849435"/>
              <a:ext cx="448924" cy="147210"/>
            </a:xfrm>
            <a:prstGeom prst="roundRect">
              <a:avLst/>
            </a:prstGeom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2591117" y="2956108"/>
              <a:ext cx="1674772" cy="0"/>
            </a:xfrm>
            <a:prstGeom prst="line">
              <a:avLst/>
            </a:prstGeom>
            <a:ln w="12700" cmpd="sng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34" idx="0"/>
            </p:cNvCxnSpPr>
            <p:nvPr/>
          </p:nvCxnSpPr>
          <p:spPr>
            <a:xfrm>
              <a:off x="2602731" y="4849435"/>
              <a:ext cx="1599551" cy="0"/>
            </a:xfrm>
            <a:prstGeom prst="line">
              <a:avLst/>
            </a:prstGeom>
            <a:ln w="12700" cmpd="sng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4172546" y="3817440"/>
              <a:ext cx="810843" cy="170473"/>
            </a:xfrm>
            <a:prstGeom prst="rect">
              <a:avLst/>
            </a:prstGeom>
            <a:noFill/>
            <a:ln w="12700" cmpd="sng"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900" b="1" dirty="0"/>
                <a:t>280±30mm</a:t>
              </a:r>
              <a:endParaRPr lang="zh-CN" altLang="en-US" sz="900" b="1" dirty="0"/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4159349" y="2967599"/>
              <a:ext cx="0" cy="1881836"/>
            </a:xfrm>
            <a:prstGeom prst="straightConnector1">
              <a:avLst/>
            </a:prstGeom>
            <a:ln w="12700" cmpd="sng">
              <a:noFill/>
              <a:prstDash val="sysDot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3973169" y="4497425"/>
              <a:ext cx="0" cy="350662"/>
            </a:xfrm>
            <a:prstGeom prst="straightConnector1">
              <a:avLst/>
            </a:prstGeom>
            <a:ln w="12700" cmpd="sng">
              <a:noFill/>
              <a:prstDash val="sysDot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3263301" y="4572183"/>
              <a:ext cx="853114" cy="170473"/>
            </a:xfrm>
            <a:prstGeom prst="rect">
              <a:avLst/>
            </a:prstGeom>
            <a:noFill/>
            <a:ln w="12700" cmpd="sng"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900" b="1" dirty="0"/>
                <a:t>100±10mm</a:t>
              </a:r>
              <a:endParaRPr lang="zh-CN" altLang="en-US" sz="900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662302" y="3553212"/>
              <a:ext cx="530735" cy="170473"/>
            </a:xfrm>
            <a:prstGeom prst="rect">
              <a:avLst/>
            </a:prstGeom>
            <a:noFill/>
            <a:ln w="12700" cmpd="sng"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/>
                <a:t>光源</a:t>
              </a:r>
              <a:r>
                <a:rPr lang="en-US" altLang="zh-CN" sz="900" b="1" dirty="0"/>
                <a:t>1</a:t>
              </a:r>
              <a:endParaRPr lang="zh-CN" altLang="en-US" sz="900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632902" y="4817891"/>
              <a:ext cx="530735" cy="170473"/>
            </a:xfrm>
            <a:prstGeom prst="rect">
              <a:avLst/>
            </a:prstGeom>
            <a:noFill/>
            <a:ln w="12700" cmpd="sng"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/>
                <a:t>被测物</a:t>
              </a:r>
              <a:endParaRPr lang="zh-CN" altLang="en-US" sz="900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81263" y="2453820"/>
              <a:ext cx="692814" cy="170473"/>
            </a:xfrm>
            <a:prstGeom prst="rect">
              <a:avLst/>
            </a:prstGeom>
            <a:noFill/>
            <a:ln w="12700" cmpd="sng"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/>
                <a:t>相机镜头</a:t>
              </a:r>
              <a:endParaRPr lang="zh-CN" altLang="en-US" sz="900" b="1" dirty="0"/>
            </a:p>
          </p:txBody>
        </p:sp>
        <p:cxnSp>
          <p:nvCxnSpPr>
            <p:cNvPr id="44" name="直接连接符 43"/>
            <p:cNvCxnSpPr/>
            <p:nvPr/>
          </p:nvCxnSpPr>
          <p:spPr>
            <a:xfrm flipV="1">
              <a:off x="2602731" y="4479555"/>
              <a:ext cx="1440000" cy="0"/>
            </a:xfrm>
            <a:prstGeom prst="line">
              <a:avLst/>
            </a:prstGeom>
            <a:ln w="12700" cmpd="sng">
              <a:noFill/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2594390" y="2130141"/>
              <a:ext cx="0" cy="2960197"/>
            </a:xfrm>
            <a:prstGeom prst="line">
              <a:avLst/>
            </a:prstGeom>
            <a:ln w="12700" cap="flat" cmpd="sng" algn="ctr">
              <a:noFill/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/>
          <a:srcRect l="3623" t="6700" r="5448" b="2325"/>
          <a:stretch>
            <a:fillRect/>
          </a:stretch>
        </p:blipFill>
        <p:spPr>
          <a:xfrm>
            <a:off x="8493468" y="4255457"/>
            <a:ext cx="898518" cy="462384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673735" y="1255395"/>
          <a:ext cx="4799330" cy="428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3225800"/>
              </a:tblGrid>
              <a:tr h="608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规格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 anchor="ctr"/>
                </a:tc>
              </a:tr>
              <a:tr h="630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相机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sym typeface="+mn-ea"/>
                        </a:rPr>
                        <a:t>MV-CE120-10GM*1</a:t>
                      </a:r>
                      <a:endParaRPr lang="en-US" altLang="zh-CN" sz="140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/>
                </a:tc>
              </a:tr>
              <a:tr h="608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镜头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sym typeface="+mn-ea"/>
                        </a:rPr>
                        <a:t>0.3-1X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sym typeface="+mn-ea"/>
                        </a:rPr>
                        <a:t>连续变倍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sym typeface="+mn-ea"/>
                        </a:rPr>
                        <a:t>C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sym typeface="+mn-ea"/>
                        </a:rPr>
                        <a:t>口红圈镜头 * 1</a:t>
                      </a:r>
                      <a:endParaRPr lang="zh-CN" altLang="en-US" sz="140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/>
                </a:tc>
              </a:tr>
              <a:tr h="608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光源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大内径穿孔式环形漫射 </a:t>
                      </a:r>
                      <a:r>
                        <a:rPr lang="en-US" altLang="zh-CN" sz="1400">
                          <a:sym typeface="+mn-ea"/>
                        </a:rPr>
                        <a:t>LED </a:t>
                      </a:r>
                      <a:r>
                        <a:rPr lang="zh-CN" altLang="en-US" sz="1400">
                          <a:sym typeface="+mn-ea"/>
                        </a:rPr>
                        <a:t>光源（内径 60</a:t>
                      </a:r>
                      <a:r>
                        <a:rPr lang="en-US" altLang="zh-CN" sz="1400">
                          <a:sym typeface="+mn-ea"/>
                        </a:rPr>
                        <a:t>mm，</a:t>
                      </a:r>
                      <a:r>
                        <a:rPr lang="zh-CN" altLang="en-US" sz="1400">
                          <a:sym typeface="+mn-ea"/>
                        </a:rPr>
                        <a:t>外径 88</a:t>
                      </a:r>
                      <a:r>
                        <a:rPr lang="en-US" altLang="zh-CN" sz="1400">
                          <a:sym typeface="+mn-ea"/>
                        </a:rPr>
                        <a:t>mm）*1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 anchor="ctr"/>
                </a:tc>
              </a:tr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/>
                        <a:t>工作距离 </a:t>
                      </a:r>
                      <a:r>
                        <a:rPr lang="en-US" altLang="zh-CN" sz="1600" dirty="0"/>
                        <a:t>WD</a:t>
                      </a:r>
                      <a:endParaRPr lang="en-US" altLang="zh-CN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300-500mm，</a:t>
                      </a:r>
                      <a:r>
                        <a:rPr lang="zh-CN" altLang="en-US" sz="1400">
                          <a:sym typeface="+mn-ea"/>
                        </a:rPr>
                        <a:t>推荐 350-380</a:t>
                      </a:r>
                      <a:r>
                        <a:rPr lang="en-US" altLang="zh-CN" sz="1400">
                          <a:sym typeface="+mn-ea"/>
                        </a:rPr>
                        <a:t>mm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视野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400" dirty="0">
                          <a:sym typeface="+mn-ea"/>
                        </a:rPr>
                        <a:t>24.8(</a:t>
                      </a:r>
                      <a:r>
                        <a:rPr lang="zh-CN" altLang="en-US" sz="1400" dirty="0">
                          <a:sym typeface="+mn-ea"/>
                        </a:rPr>
                        <a:t>宽</a:t>
                      </a:r>
                      <a:r>
                        <a:rPr lang="en-US" altLang="zh-CN" sz="1400" dirty="0">
                          <a:sym typeface="+mn-ea"/>
                        </a:rPr>
                        <a:t>)</a:t>
                      </a:r>
                      <a:endParaRPr lang="zh-CN" altLang="en-US" sz="1400" dirty="0">
                        <a:sym typeface="+mn-ea"/>
                      </a:endParaRPr>
                    </a:p>
                  </a:txBody>
                  <a:tcPr anchor="ctr"/>
                </a:tc>
              </a:tr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像素精度</a:t>
                      </a:r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dirty="0"/>
                        <a:t>0.1mm</a:t>
                      </a:r>
                      <a:endParaRPr lang="en-US" altLang="zh-CN" sz="1400" dirty="0"/>
                    </a:p>
                  </a:txBody>
                  <a:tcPr anchor="ctr"/>
                </a:tc>
              </a:tr>
            </a:tbl>
          </a:graphicData>
        </a:graphic>
      </p:graphicFrame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300355" y="15303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 userDrawn="1"/>
        </p:nvCxnSpPr>
        <p:spPr>
          <a:xfrm>
            <a:off x="379730" y="68135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104" y="43815"/>
            <a:ext cx="7842213" cy="5435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最终方案</a:t>
            </a:r>
            <a:r>
              <a:rPr lang="en-US" altLang="zh-CN">
                <a:sym typeface="+mn-ea"/>
              </a:rPr>
              <a:t>-</a:t>
            </a:r>
            <a:r>
              <a:rPr>
                <a:sym typeface="+mn-ea"/>
              </a:rPr>
              <a:t>检测</a:t>
            </a:r>
            <a:r>
              <a:rPr>
                <a:sym typeface="+mn-ea"/>
              </a:rPr>
              <a:t>说明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0358755" y="19050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7390" y="1417320"/>
            <a:ext cx="1074864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采用</a:t>
            </a:r>
            <a:r>
              <a:rPr lang="en-US" altLang="zh-CN"/>
              <a:t>2D</a:t>
            </a:r>
            <a:r>
              <a:rPr lang="zh-CN" altLang="en-US"/>
              <a:t>相机检测胶宽、是否断胶、胶路距玻璃边缘距离；采用</a:t>
            </a:r>
            <a:r>
              <a:rPr lang="en-US" altLang="zh-CN"/>
              <a:t>3D</a:t>
            </a:r>
            <a:r>
              <a:rPr lang="zh-CN" altLang="en-US"/>
              <a:t>相机检测胶高。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胶宽</a:t>
            </a:r>
            <a:r>
              <a:rPr lang="en-US" altLang="zh-CN"/>
              <a:t>/</a:t>
            </a:r>
            <a:r>
              <a:rPr lang="zh-CN" altLang="en-US"/>
              <a:t>边距检测精度预计±</a:t>
            </a:r>
            <a:r>
              <a:rPr lang="en-US" altLang="zh-CN"/>
              <a:t>0.1; </a:t>
            </a:r>
            <a:r>
              <a:rPr lang="zh-CN" altLang="en-US"/>
              <a:t>胶高检测精度预计±</a:t>
            </a:r>
            <a:r>
              <a:rPr lang="en-US" altLang="zh-CN"/>
              <a:t>0.03mm</a:t>
            </a:r>
            <a:r>
              <a:rPr lang="zh-CN" altLang="en-US"/>
              <a:t>；此精度不考虑产品自身高度上的形变。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如果产品在高度上不同区域的形变较严重，则精度会变差（实际精度待结合实物测试</a:t>
            </a:r>
            <a:r>
              <a:rPr lang="zh-CN" altLang="en-US"/>
              <a:t>确认）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3. </a:t>
            </a:r>
            <a:r>
              <a:rPr lang="zh-CN" altLang="en-US"/>
              <a:t>无法采用</a:t>
            </a:r>
            <a:r>
              <a:rPr lang="en-US" altLang="zh-CN"/>
              <a:t>3D</a:t>
            </a:r>
            <a:r>
              <a:rPr lang="zh-CN" altLang="en-US"/>
              <a:t>完成全部检测的主要原因：</a:t>
            </a:r>
            <a:endParaRPr lang="zh-CN" altLang="en-US"/>
          </a:p>
          <a:p>
            <a:pPr indent="457200">
              <a:lnSpc>
                <a:spcPct val="150000"/>
              </a:lnSpc>
            </a:pPr>
            <a:r>
              <a:rPr lang="en-US" altLang="zh-CN"/>
              <a:t>- 3D</a:t>
            </a:r>
            <a:r>
              <a:rPr lang="zh-CN" altLang="en-US"/>
              <a:t>的检测精度，在宽度</a:t>
            </a:r>
            <a:r>
              <a:rPr lang="en-US" altLang="zh-CN"/>
              <a:t>/</a:t>
            </a:r>
            <a:r>
              <a:rPr lang="zh-CN" altLang="en-US"/>
              <a:t>边距方向上的精度较差，只能达到±</a:t>
            </a:r>
            <a:r>
              <a:rPr lang="en-US" altLang="zh-CN"/>
              <a:t>0.3mm</a:t>
            </a:r>
            <a:r>
              <a:rPr lang="zh-CN" altLang="en-US"/>
              <a:t>左右</a:t>
            </a:r>
            <a:endParaRPr lang="zh-CN" altLang="en-US"/>
          </a:p>
          <a:p>
            <a:pPr indent="457200">
              <a:lnSpc>
                <a:spcPct val="150000"/>
              </a:lnSpc>
            </a:pPr>
            <a:r>
              <a:rPr lang="en-US" altLang="zh-CN"/>
              <a:t>- </a:t>
            </a:r>
            <a:r>
              <a:rPr lang="zh-CN" altLang="en-US"/>
              <a:t>产品底材为玻璃，</a:t>
            </a:r>
            <a:r>
              <a:rPr lang="en-US" altLang="zh-CN"/>
              <a:t>3D</a:t>
            </a:r>
            <a:r>
              <a:rPr lang="zh-CN" altLang="en-US"/>
              <a:t>无法全画幅稳定</a:t>
            </a:r>
            <a:r>
              <a:rPr lang="zh-CN" altLang="en-US"/>
              <a:t>成像。</a:t>
            </a:r>
            <a:endParaRPr lang="zh-CN" altLang="en-US"/>
          </a:p>
          <a:p>
            <a:pPr indent="457200">
              <a:lnSpc>
                <a:spcPct val="150000"/>
              </a:lnSpc>
            </a:pPr>
            <a:r>
              <a:rPr lang="en-US" altLang="zh-CN"/>
              <a:t>- </a:t>
            </a:r>
            <a:r>
              <a:rPr lang="zh-CN" altLang="en-US" b="1">
                <a:solidFill>
                  <a:srgbClr val="FF0000"/>
                </a:solidFill>
              </a:rPr>
              <a:t>如无需检测边距，则可取消</a:t>
            </a:r>
            <a:r>
              <a:rPr lang="en-US" altLang="zh-CN" b="1">
                <a:solidFill>
                  <a:srgbClr val="FF0000"/>
                </a:solidFill>
              </a:rPr>
              <a:t>2D</a:t>
            </a:r>
            <a:r>
              <a:rPr lang="zh-CN" altLang="en-US" b="1">
                <a:solidFill>
                  <a:srgbClr val="FF0000"/>
                </a:solidFill>
              </a:rPr>
              <a:t>，仅采用</a:t>
            </a:r>
            <a:r>
              <a:rPr lang="en-US" altLang="zh-CN" b="1">
                <a:solidFill>
                  <a:srgbClr val="FF0000"/>
                </a:solidFill>
              </a:rPr>
              <a:t>3D</a:t>
            </a:r>
            <a:r>
              <a:rPr lang="zh-CN" altLang="en-US" b="1">
                <a:solidFill>
                  <a:srgbClr val="FF0000"/>
                </a:solidFill>
              </a:rPr>
              <a:t>方案即可</a:t>
            </a:r>
            <a:r>
              <a:rPr lang="zh-CN" altLang="en-US"/>
              <a:t>。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4. 3D</a:t>
            </a:r>
            <a:r>
              <a:rPr lang="zh-CN" altLang="en-US"/>
              <a:t>扫描的间隔预计为</a:t>
            </a:r>
            <a:r>
              <a:rPr lang="en-US" altLang="zh-CN"/>
              <a:t>1mm</a:t>
            </a:r>
            <a:r>
              <a:rPr lang="zh-CN" altLang="en-US"/>
              <a:t>，</a:t>
            </a:r>
            <a:r>
              <a:rPr lang="en-US" altLang="zh-CN"/>
              <a:t>CT</a:t>
            </a:r>
            <a:r>
              <a:rPr lang="zh-CN" altLang="en-US"/>
              <a:t>预计可达</a:t>
            </a:r>
            <a:r>
              <a:rPr lang="en-US" altLang="zh-CN"/>
              <a:t>500mm/s</a:t>
            </a:r>
            <a:r>
              <a:rPr lang="zh-CN" altLang="en-US"/>
              <a:t>。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5. </a:t>
            </a:r>
            <a:r>
              <a:rPr lang="zh-CN" altLang="en-US"/>
              <a:t>如需边点边校测，需结合机构动作流程，适当增加检测相机；从成本考虑，建议单独增加一个检测工位，这样只需一套</a:t>
            </a:r>
            <a:r>
              <a:rPr lang="en-US" altLang="zh-CN"/>
              <a:t>2D+3D</a:t>
            </a:r>
            <a:r>
              <a:rPr lang="zh-CN" altLang="en-US"/>
              <a:t>即可。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300355" y="15303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 userDrawn="1"/>
        </p:nvCxnSpPr>
        <p:spPr>
          <a:xfrm>
            <a:off x="379730" y="68135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105" y="43815"/>
            <a:ext cx="6935470" cy="5435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 dirty="0">
                <a:sym typeface="+mn-ea"/>
              </a:rPr>
              <a:t>光源尺寸图</a:t>
            </a:r>
            <a:r>
              <a:rPr lang="en-US" altLang="zh-CN" sz="4000" dirty="0">
                <a:sym typeface="+mn-ea"/>
              </a:rPr>
              <a:t>-2D</a:t>
            </a:r>
            <a:r>
              <a:rPr sz="4000" dirty="0">
                <a:sym typeface="+mn-ea"/>
              </a:rPr>
              <a:t>相机</a:t>
            </a:r>
            <a:endParaRPr sz="4000" dirty="0"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0358755" y="19050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0695" y="5332095"/>
            <a:ext cx="3178175" cy="102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675" y="1362710"/>
            <a:ext cx="7662545" cy="32886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300355" y="15303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 userDrawn="1"/>
        </p:nvCxnSpPr>
        <p:spPr>
          <a:xfrm>
            <a:off x="379730" y="68135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105" y="43815"/>
            <a:ext cx="6935470" cy="5435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 dirty="0">
                <a:sym typeface="+mn-ea"/>
              </a:rPr>
              <a:t>光源尺寸图</a:t>
            </a:r>
            <a:r>
              <a:rPr lang="en-US" altLang="zh-CN" sz="4000" dirty="0">
                <a:sym typeface="+mn-ea"/>
              </a:rPr>
              <a:t>-2D</a:t>
            </a:r>
            <a:r>
              <a:rPr sz="4000" dirty="0">
                <a:sym typeface="+mn-ea"/>
              </a:rPr>
              <a:t>相机</a:t>
            </a:r>
            <a:endParaRPr sz="4000" dirty="0"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0358755" y="19050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0695" y="5332095"/>
            <a:ext cx="3178175" cy="102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1543050"/>
            <a:ext cx="11321415" cy="41319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300355" y="15303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 userDrawn="1"/>
        </p:nvCxnSpPr>
        <p:spPr>
          <a:xfrm>
            <a:off x="379730" y="68135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105" y="43815"/>
            <a:ext cx="6935470" cy="5435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 dirty="0">
                <a:sym typeface="+mn-ea"/>
              </a:rPr>
              <a:t>光源尺寸图</a:t>
            </a:r>
            <a:r>
              <a:rPr lang="en-US" altLang="zh-CN" sz="4000" dirty="0">
                <a:sym typeface="+mn-ea"/>
              </a:rPr>
              <a:t>-3D</a:t>
            </a:r>
            <a:r>
              <a:rPr sz="4000" dirty="0">
                <a:sym typeface="+mn-ea"/>
              </a:rPr>
              <a:t>相机</a:t>
            </a:r>
            <a:endParaRPr sz="4000" dirty="0"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0358755" y="19050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0695" y="5332095"/>
            <a:ext cx="3178175" cy="102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305" y="700405"/>
            <a:ext cx="7664450" cy="5969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300355" y="15303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 userDrawn="1"/>
        </p:nvCxnSpPr>
        <p:spPr>
          <a:xfrm>
            <a:off x="379730" y="68135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105" y="43815"/>
            <a:ext cx="10002520" cy="619125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 dirty="0">
                <a:sym typeface="+mn-ea"/>
              </a:rPr>
              <a:t>尺寸图</a:t>
            </a:r>
            <a:r>
              <a:rPr lang="en-US" altLang="zh-CN" sz="4000" dirty="0">
                <a:sym typeface="+mn-ea"/>
              </a:rPr>
              <a:t>-</a:t>
            </a:r>
            <a:r>
              <a:rPr sz="4000" dirty="0"/>
              <a:t>显示屏</a:t>
            </a:r>
            <a:endParaRPr sz="4000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358755" y="19050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275" y="1038225"/>
            <a:ext cx="7476490" cy="52133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/>
          <p:cNvSpPr/>
          <p:nvPr userDrawn="1"/>
        </p:nvSpPr>
        <p:spPr>
          <a:xfrm>
            <a:off x="0" y="-26670"/>
            <a:ext cx="12261215" cy="6884670"/>
          </a:xfrm>
          <a:prstGeom prst="rect">
            <a:avLst/>
          </a:prstGeom>
          <a:gradFill>
            <a:gsLst>
              <a:gs pos="76000">
                <a:srgbClr val="FFFFFF">
                  <a:alpha val="75000"/>
                </a:srgbClr>
              </a:gs>
              <a:gs pos="90000">
                <a:srgbClr val="FFFFFF">
                  <a:alpha val="100000"/>
                </a:srgbClr>
              </a:gs>
              <a:gs pos="12000">
                <a:srgbClr val="B1DCFD"/>
              </a:gs>
            </a:gsLst>
            <a:lin ang="0" scaled="0"/>
          </a:gradFill>
          <a:ln>
            <a:noFill/>
          </a:ln>
          <a:effectLst>
            <a:reflection stA="0" endPos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660650" y="1816735"/>
            <a:ext cx="6623050" cy="1438275"/>
          </a:xfrm>
        </p:spPr>
        <p:txBody>
          <a:bodyPr lIns="91440" tIns="45720" rIns="91440" bIns="0" anchor="b" anchorCtr="0">
            <a:noAutofit/>
          </a:bodyPr>
          <a:lstStyle>
            <a:lvl1pPr algn="l">
              <a:defRPr sz="2800" b="1" spc="600" baseline="0">
                <a:latin typeface="Arial" panose="020B0604020202020204" pitchFamily="34" charset="0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6600" b="0" spc="150" dirty="0">
                <a:solidFill>
                  <a:schemeClr val="accent1"/>
                </a:solidFill>
                <a:ea typeface="+mn-ea"/>
                <a:cs typeface="+mn-cs"/>
              </a:rPr>
              <a:t>Thanks!</a:t>
            </a:r>
            <a:endParaRPr lang="en-US" altLang="zh-CN" sz="6600" b="0" spc="150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3274695" y="3429000"/>
            <a:ext cx="6738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spc="150" dirty="0">
                <a:solidFill>
                  <a:schemeClr val="accent1"/>
                </a:solidFill>
                <a:uFillTx/>
                <a:latin typeface="Arial" panose="020B0604020202020204" pitchFamily="34" charset="0"/>
              </a:rPr>
              <a:t>机器视觉，</a:t>
            </a:r>
            <a:r>
              <a:rPr lang="en-US" altLang="zh-CN" sz="3600" spc="150" dirty="0">
                <a:solidFill>
                  <a:schemeClr val="accent1"/>
                </a:solidFill>
                <a:uFillTx/>
                <a:latin typeface="Arial" panose="020B0604020202020204" pitchFamily="34" charset="0"/>
              </a:rPr>
              <a:t>服务好才是真的好</a:t>
            </a:r>
            <a:r>
              <a:rPr lang="zh-CN" sz="3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CN" sz="3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TABLE_BEAUTIFY" val="smartTable{9be71b6c-0b91-4bc3-999f-ef44858469ff}"/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PLACING_PICTURE_USER_VIEWPORT" val="{&quot;height&quot;:859,&quot;width&quot;:974}"/>
  <p:tag name="KSO_WM_BEAUTIFY_FLAG" val="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PLACING_PICTURE_USER_VIEWPORT" val="{&quot;height&quot;:859,&quot;width&quot;:974}"/>
  <p:tag name="KSO_WM_BEAUTIFY_FLAG" val=""/>
</p:tagLst>
</file>

<file path=ppt/tags/tag79.xml><?xml version="1.0" encoding="utf-8"?>
<p:tagLst xmlns:p="http://schemas.openxmlformats.org/presentationml/2006/main">
  <p:tag name="TABLE_ENDDRAG_ORIGIN_RECT" val="377*337"/>
  <p:tag name="TABLE_ENDDRAG_RECT" val="57*141*377*337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COMMONDATA" val="eyJoZGlkIjoiMzVhZDZmZjYxNjZmODBlNjM1NmQ1ZWQzMjRjMWNiODMifQ=="/>
  <p:tag name="commondata" val="eyJoZGlkIjoiYjUyMjAzOWY0MjQyNjU1YTM5ZWI1MTgyMDk0N2M5MW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1367</Words>
  <Application>WPS 演示</Application>
  <PresentationFormat>宽屏</PresentationFormat>
  <Paragraphs>179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微软雅黑</vt:lpstr>
      <vt:lpstr>WPS灵秀黑</vt:lpstr>
      <vt:lpstr>华文中宋</vt:lpstr>
      <vt:lpstr>Times New Roman</vt:lpstr>
      <vt:lpstr>Arial Unicode MS</vt:lpstr>
      <vt:lpstr>Calibri</vt:lpstr>
      <vt:lpstr>WPS</vt:lpstr>
      <vt:lpstr>盛普-胶路检测视觉方案</vt:lpstr>
      <vt:lpstr>目录</vt:lpstr>
      <vt:lpstr>方案解析-版本审阅</vt:lpstr>
      <vt:lpstr>检测要求</vt:lpstr>
      <vt:lpstr>PowerPoint 演示文稿</vt:lpstr>
      <vt:lpstr>安装示意图-2D-胶宽检测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郭旭</dc:creator>
  <cp:lastModifiedBy>王硕旋</cp:lastModifiedBy>
  <cp:revision>291</cp:revision>
  <dcterms:created xsi:type="dcterms:W3CDTF">2019-06-19T02:08:00Z</dcterms:created>
  <dcterms:modified xsi:type="dcterms:W3CDTF">2026-09-18T12:12:30Z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3013FB104A714CFE836EB22EFB40F495_12</vt:lpwstr>
  </property>
</Properties>
</file>