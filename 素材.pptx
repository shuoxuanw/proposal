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tiff" ContentType="image/tif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63" r:id="rId4"/>
    <p:sldId id="276" r:id="rId5"/>
    <p:sldId id="277" r:id="rId6"/>
    <p:sldId id="278" r:id="rId7"/>
    <p:sldId id="279" r:id="rId8"/>
    <p:sldId id="281" r:id="rId9"/>
    <p:sldId id="280" r:id="rId10"/>
    <p:sldId id="283" r:id="rId11"/>
    <p:sldId id="284" r:id="rId12"/>
    <p:sldId id="285" r:id="rId13"/>
    <p:sldId id="286" r:id="rId14"/>
    <p:sldId id="288" r:id="rId15"/>
  </p:sldIdLst>
  <p:sldSz cx="9144000" cy="5143500" type="screen16x9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9" userDrawn="1">
          <p15:clr>
            <a:srgbClr val="A4A3A4"/>
          </p15:clr>
        </p15:guide>
        <p15:guide id="2" orient="horz" pos="15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6FB1"/>
    <a:srgbClr val="0463CC"/>
    <a:srgbClr val="009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94" autoAdjust="0"/>
  </p:normalViewPr>
  <p:slideViewPr>
    <p:cSldViewPr showGuides="1">
      <p:cViewPr varScale="1">
        <p:scale>
          <a:sx n="143" d="100"/>
          <a:sy n="143" d="100"/>
        </p:scale>
        <p:origin x="684" y="108"/>
      </p:cViewPr>
      <p:guideLst>
        <p:guide pos="519"/>
        <p:guide orient="horz" pos="15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A7E3F-D3DC-4AF9-BF9A-EDEA693E5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2097A-835E-47F4-8575-B24B9E4585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tif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 descr="D:\Documents\WeChat Files\CCMV0769\Files\CST logo.TIF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088231" cy="63320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5" Type="http://schemas.openxmlformats.org/officeDocument/2006/relationships/vmlDrawing" Target="../drawings/vmlDrawing1.vml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33.png"/><Relationship Id="rId32" Type="http://schemas.openxmlformats.org/officeDocument/2006/relationships/tags" Target="../tags/tag2.xml"/><Relationship Id="rId31" Type="http://schemas.openxmlformats.org/officeDocument/2006/relationships/image" Target="../media/image32.wmf"/><Relationship Id="rId30" Type="http://schemas.openxmlformats.org/officeDocument/2006/relationships/oleObject" Target="../embeddings/oleObject1.bin"/><Relationship Id="rId3" Type="http://schemas.openxmlformats.org/officeDocument/2006/relationships/image" Target="../media/image5.png"/><Relationship Id="rId29" Type="http://schemas.openxmlformats.org/officeDocument/2006/relationships/image" Target="../media/image31.png"/><Relationship Id="rId28" Type="http://schemas.openxmlformats.org/officeDocument/2006/relationships/image" Target="../media/image30.png"/><Relationship Id="rId27" Type="http://schemas.openxmlformats.org/officeDocument/2006/relationships/image" Target="../media/image29.png"/><Relationship Id="rId26" Type="http://schemas.openxmlformats.org/officeDocument/2006/relationships/image" Target="../media/image28.png"/><Relationship Id="rId25" Type="http://schemas.openxmlformats.org/officeDocument/2006/relationships/image" Target="../media/image27.png"/><Relationship Id="rId24" Type="http://schemas.openxmlformats.org/officeDocument/2006/relationships/image" Target="../media/image26.png"/><Relationship Id="rId23" Type="http://schemas.openxmlformats.org/officeDocument/2006/relationships/image" Target="../media/image25.png"/><Relationship Id="rId22" Type="http://schemas.openxmlformats.org/officeDocument/2006/relationships/image" Target="../media/image24.png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10.png"/><Relationship Id="rId2" Type="http://schemas.openxmlformats.org/officeDocument/2006/relationships/image" Target="../media/image52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61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1491630"/>
            <a:ext cx="9144000" cy="2298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flipH="1">
            <a:off x="-13855" y="3830766"/>
            <a:ext cx="9157856" cy="93623"/>
            <a:chOff x="0" y="5588000"/>
            <a:chExt cx="12202605" cy="107950"/>
          </a:xfrm>
        </p:grpSpPr>
        <p:sp>
          <p:nvSpPr>
            <p:cNvPr id="8" name="矩形 7"/>
            <p:cNvSpPr/>
            <p:nvPr/>
          </p:nvSpPr>
          <p:spPr>
            <a:xfrm>
              <a:off x="0" y="5588000"/>
              <a:ext cx="6605362" cy="10795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739613" y="5588000"/>
              <a:ext cx="2617113" cy="107950"/>
            </a:xfrm>
            <a:prstGeom prst="rect">
              <a:avLst/>
            </a:prstGeom>
            <a:solidFill>
              <a:srgbClr val="806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9497799" y="5588000"/>
              <a:ext cx="2704806" cy="10795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089972"/>
            <a:ext cx="7772400" cy="1102519"/>
          </a:xfrm>
        </p:spPr>
        <p:txBody>
          <a:bodyPr/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光源素材示意图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63688" y="12482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1F6FB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东莞康视达自动化科技有限公司</a:t>
            </a:r>
            <a:endParaRPr lang="zh-CN" altLang="en-US" dirty="0">
              <a:solidFill>
                <a:srgbClr val="1F6FB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82270" y="668020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条形光源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rcRect l="2968" t="6903" r="5126" b="5081"/>
          <a:stretch>
            <a:fillRect/>
          </a:stretch>
        </p:blipFill>
        <p:spPr>
          <a:xfrm>
            <a:off x="2198651" y="851535"/>
            <a:ext cx="276543" cy="24840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/>
          <a:srcRect t="5939" b="3831"/>
          <a:stretch>
            <a:fillRect/>
          </a:stretch>
        </p:blipFill>
        <p:spPr>
          <a:xfrm>
            <a:off x="1670050" y="843915"/>
            <a:ext cx="292735" cy="2476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/>
          <a:srcRect t="6745" b="7252"/>
          <a:stretch>
            <a:fillRect/>
          </a:stretch>
        </p:blipFill>
        <p:spPr>
          <a:xfrm>
            <a:off x="2621280" y="846455"/>
            <a:ext cx="323215" cy="26098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82270" y="1504315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环形光源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/>
          <a:srcRect l="2723" t="16497" r="6989" b="13957"/>
          <a:stretch>
            <a:fillRect/>
          </a:stretch>
        </p:blipFill>
        <p:spPr>
          <a:xfrm>
            <a:off x="1588770" y="1483995"/>
            <a:ext cx="1032670" cy="25200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 cstate="print"/>
          <a:srcRect l="4575" t="11985" r="8785" b="19175"/>
          <a:stretch>
            <a:fillRect/>
          </a:stretch>
        </p:blipFill>
        <p:spPr>
          <a:xfrm>
            <a:off x="4010660" y="1482725"/>
            <a:ext cx="1029454" cy="25200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 cstate="print"/>
          <a:srcRect t="11858" r="6555" b="13195"/>
          <a:stretch>
            <a:fillRect/>
          </a:stretch>
        </p:blipFill>
        <p:spPr>
          <a:xfrm>
            <a:off x="6401435" y="1482725"/>
            <a:ext cx="1029454" cy="252002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rcRect t="27730" b="28943"/>
          <a:stretch>
            <a:fillRect/>
          </a:stretch>
        </p:blipFill>
        <p:spPr>
          <a:xfrm>
            <a:off x="1660525" y="1938020"/>
            <a:ext cx="1034676" cy="79201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8"/>
          <a:srcRect t="6673" b="13345"/>
          <a:stretch>
            <a:fillRect/>
          </a:stretch>
        </p:blipFill>
        <p:spPr>
          <a:xfrm>
            <a:off x="6490018" y="1918653"/>
            <a:ext cx="851086" cy="79201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9"/>
          <a:srcRect t="24481" b="19996"/>
          <a:stretch>
            <a:fillRect/>
          </a:stretch>
        </p:blipFill>
        <p:spPr>
          <a:xfrm>
            <a:off x="4082415" y="1918970"/>
            <a:ext cx="832104" cy="79201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0" cstate="print"/>
          <a:srcRect l="3287" t="8230" r="3704" b="12363"/>
          <a:stretch>
            <a:fillRect/>
          </a:stretch>
        </p:blipFill>
        <p:spPr>
          <a:xfrm>
            <a:off x="1660525" y="2225040"/>
            <a:ext cx="985248" cy="25200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1" cstate="print"/>
          <a:srcRect l="1162" t="10921" r="2695" b="15767"/>
          <a:stretch>
            <a:fillRect/>
          </a:stretch>
        </p:blipFill>
        <p:spPr>
          <a:xfrm>
            <a:off x="4082415" y="2224723"/>
            <a:ext cx="1038216" cy="252002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2" cstate="print"/>
          <a:srcRect l="3801" t="11485" r="3801" b="11485"/>
          <a:stretch>
            <a:fillRect/>
          </a:stretch>
        </p:blipFill>
        <p:spPr>
          <a:xfrm>
            <a:off x="6490335" y="2218373"/>
            <a:ext cx="1013343" cy="25200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3"/>
          <a:srcRect b="3977"/>
          <a:stretch>
            <a:fillRect/>
          </a:stretch>
        </p:blipFill>
        <p:spPr>
          <a:xfrm>
            <a:off x="3473450" y="859155"/>
            <a:ext cx="904240" cy="24066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3184" y="859410"/>
            <a:ext cx="868918" cy="24120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74718" y="859040"/>
            <a:ext cx="895653" cy="2412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9085" y="2896870"/>
            <a:ext cx="81089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面光源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6" cstate="print"/>
          <a:srcRect l="1701" t="16393" b="10246"/>
          <a:stretch>
            <a:fillRect/>
          </a:stretch>
        </p:blipFill>
        <p:spPr>
          <a:xfrm>
            <a:off x="1397000" y="2975501"/>
            <a:ext cx="1003359" cy="180001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7" cstate="print"/>
          <a:srcRect l="4870" t="25134" r="4940" b="12567"/>
          <a:stretch>
            <a:fillRect/>
          </a:stretch>
        </p:blipFill>
        <p:spPr>
          <a:xfrm>
            <a:off x="2573389" y="2975843"/>
            <a:ext cx="1086997" cy="180001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8" cstate="print"/>
          <a:srcRect t="8484" b="16968"/>
          <a:stretch>
            <a:fillRect/>
          </a:stretch>
        </p:blipFill>
        <p:spPr>
          <a:xfrm>
            <a:off x="3888105" y="2975501"/>
            <a:ext cx="1152008" cy="10048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9" cstate="print"/>
          <a:srcRect t="10638" b="17270"/>
          <a:stretch>
            <a:fillRect/>
          </a:stretch>
        </p:blipFill>
        <p:spPr>
          <a:xfrm>
            <a:off x="5488940" y="2959190"/>
            <a:ext cx="1152008" cy="2120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9201" y="324299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底部背光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68879" y="324426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底部背光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21"/>
          <p:cNvSpPr txBox="1"/>
          <p:nvPr/>
        </p:nvSpPr>
        <p:spPr>
          <a:xfrm>
            <a:off x="4116646" y="321031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侧部背光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22"/>
          <p:cNvSpPr txBox="1"/>
          <p:nvPr/>
        </p:nvSpPr>
        <p:spPr>
          <a:xfrm>
            <a:off x="5587166" y="3263121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底部开孔面光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23"/>
          <p:cNvSpPr txBox="1"/>
          <p:nvPr/>
        </p:nvSpPr>
        <p:spPr>
          <a:xfrm>
            <a:off x="7165013" y="3169141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侧部开孔面光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0" cstate="print"/>
          <a:srcRect l="1260" t="18052" r="2038" b="18858"/>
          <a:stretch>
            <a:fillRect/>
          </a:stretch>
        </p:blipFill>
        <p:spPr>
          <a:xfrm>
            <a:off x="7065379" y="3015249"/>
            <a:ext cx="1152008" cy="100553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25120" y="3910330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同轴光源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1" cstate="print"/>
          <a:srcRect l="5815" t="5605" r="7753"/>
          <a:stretch>
            <a:fillRect/>
          </a:stretch>
        </p:blipFill>
        <p:spPr>
          <a:xfrm>
            <a:off x="1911985" y="3983355"/>
            <a:ext cx="540004" cy="52790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2" cstate="print"/>
          <a:srcRect l="4414" t="4474" r="7362"/>
          <a:stretch>
            <a:fillRect/>
          </a:stretch>
        </p:blipFill>
        <p:spPr>
          <a:xfrm>
            <a:off x="2730160" y="3983049"/>
            <a:ext cx="540004" cy="5313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3" cstate="print"/>
          <a:srcRect l="7275" t="4993" r="6784"/>
          <a:stretch>
            <a:fillRect/>
          </a:stretch>
        </p:blipFill>
        <p:spPr>
          <a:xfrm>
            <a:off x="3542803" y="3983355"/>
            <a:ext cx="540004" cy="5396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4" cstate="print"/>
          <a:srcRect l="7766" t="6211" r="3451" b="4969"/>
          <a:stretch>
            <a:fillRect/>
          </a:stretch>
        </p:blipFill>
        <p:spPr>
          <a:xfrm>
            <a:off x="4456574" y="4052397"/>
            <a:ext cx="540004" cy="388813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5" cstate="print"/>
          <a:srcRect t="21114" b="21603"/>
          <a:stretch>
            <a:fillRect/>
          </a:stretch>
        </p:blipFill>
        <p:spPr>
          <a:xfrm>
            <a:off x="5336376" y="4059687"/>
            <a:ext cx="900007" cy="67132"/>
          </a:xfrm>
          <a:prstGeom prst="rect">
            <a:avLst/>
          </a:prstGeom>
        </p:spPr>
      </p:pic>
      <p:sp>
        <p:nvSpPr>
          <p:cNvPr id="31" name="TextBox 17"/>
          <p:cNvSpPr txBox="1"/>
          <p:nvPr/>
        </p:nvSpPr>
        <p:spPr>
          <a:xfrm>
            <a:off x="5508163" y="4450322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平面同轴光源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9"/>
          <p:cNvSpPr txBox="1"/>
          <p:nvPr/>
        </p:nvSpPr>
        <p:spPr>
          <a:xfrm>
            <a:off x="4355321" y="4511173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同轴平行光源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6"/>
          <a:srcRect l="3221" t="2926" r="5266" b="4074"/>
          <a:stretch>
            <a:fillRect/>
          </a:stretch>
        </p:blipFill>
        <p:spPr>
          <a:xfrm>
            <a:off x="3648393" y="474663"/>
            <a:ext cx="553057" cy="288002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51718" y="471488"/>
            <a:ext cx="552528" cy="288002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69013" y="474663"/>
            <a:ext cx="551062" cy="288002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9"/>
          <a:srcRect l="2977" t="5009" r="3315"/>
          <a:stretch>
            <a:fillRect/>
          </a:stretch>
        </p:blipFill>
        <p:spPr>
          <a:xfrm>
            <a:off x="7378383" y="471805"/>
            <a:ext cx="526815" cy="288002"/>
          </a:xfrm>
          <a:prstGeom prst="rect">
            <a:avLst/>
          </a:prstGeom>
        </p:spPr>
      </p:pic>
      <p:graphicFrame>
        <p:nvGraphicFramePr>
          <p:cNvPr id="40" name="对象 39"/>
          <p:cNvGraphicFramePr/>
          <p:nvPr/>
        </p:nvGraphicFramePr>
        <p:xfrm>
          <a:off x="8576945" y="952500"/>
          <a:ext cx="10350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30" imgW="1485900" imgH="2971800" progId="Paint.Picture">
                  <p:embed/>
                </p:oleObj>
              </mc:Choice>
              <mc:Fallback>
                <p:oleObj name="" r:id="rId30" imgW="1485900" imgH="2971800" progId="Paint.Picture">
                  <p:embed/>
                  <p:pic>
                    <p:nvPicPr>
                      <p:cNvPr id="0" name="图片 4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576945" y="952500"/>
                        <a:ext cx="103505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3" cstate="print"/>
          <a:srcRect l="7275" t="4993" r="6784"/>
          <a:stretch>
            <a:fillRect/>
          </a:stretch>
        </p:blipFill>
        <p:spPr>
          <a:xfrm>
            <a:off x="6838950" y="3910330"/>
            <a:ext cx="1509395" cy="539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03795" y="911860"/>
            <a:ext cx="528955" cy="344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5353" cy="545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 flipH="1" flipV="1">
            <a:off x="0" y="524453"/>
            <a:ext cx="9157856" cy="45719"/>
            <a:chOff x="0" y="5588000"/>
            <a:chExt cx="12202605" cy="107950"/>
          </a:xfrm>
        </p:grpSpPr>
        <p:sp>
          <p:nvSpPr>
            <p:cNvPr id="13" name="矩形 12"/>
            <p:cNvSpPr/>
            <p:nvPr/>
          </p:nvSpPr>
          <p:spPr>
            <a:xfrm>
              <a:off x="0" y="5588000"/>
              <a:ext cx="6605362" cy="10795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739613" y="5588000"/>
              <a:ext cx="2617113" cy="107950"/>
            </a:xfrm>
            <a:prstGeom prst="rect">
              <a:avLst/>
            </a:prstGeom>
            <a:solidFill>
              <a:srgbClr val="806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497799" y="5588000"/>
              <a:ext cx="2704806" cy="10795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397173" y="5147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1F6FB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东莞康视达自动化科技有限公司</a:t>
            </a:r>
            <a:endParaRPr lang="zh-CN" altLang="en-US">
              <a:solidFill>
                <a:srgbClr val="1F6FB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2270" y="770890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点光源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6" y="-280299"/>
            <a:ext cx="1498476" cy="112385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/>
          <a:srcRect l="9303" t="6584" r="10464" b="2437"/>
          <a:stretch>
            <a:fillRect/>
          </a:stretch>
        </p:blipFill>
        <p:spPr>
          <a:xfrm>
            <a:off x="1891256" y="846088"/>
            <a:ext cx="180001" cy="396524"/>
          </a:xfrm>
          <a:prstGeom prst="rect">
            <a:avLst/>
          </a:prstGeom>
        </p:spPr>
      </p:pic>
      <p:pic>
        <p:nvPicPr>
          <p:cNvPr id="20" name="图片 19"/>
          <p:cNvPicPr preferRelativeResize="0">
            <a:picLocks noChangeAspect="1"/>
          </p:cNvPicPr>
          <p:nvPr/>
        </p:nvPicPr>
        <p:blipFill rotWithShape="1">
          <a:blip r:embed="rId3"/>
          <a:srcRect t="3774"/>
          <a:stretch>
            <a:fillRect/>
          </a:stretch>
        </p:blipFill>
        <p:spPr>
          <a:xfrm>
            <a:off x="3266976" y="843712"/>
            <a:ext cx="180001" cy="34565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/>
          <a:srcRect t="3774" b="2303"/>
          <a:stretch>
            <a:fillRect/>
          </a:stretch>
        </p:blipFill>
        <p:spPr>
          <a:xfrm>
            <a:off x="4650647" y="843712"/>
            <a:ext cx="180001" cy="28996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 cstate="print"/>
          <a:srcRect t="4566"/>
          <a:stretch>
            <a:fillRect/>
          </a:stretch>
        </p:blipFill>
        <p:spPr>
          <a:xfrm>
            <a:off x="7317105" y="845820"/>
            <a:ext cx="241935" cy="5060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05377" y="1459339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高亮点光源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 cstate="print"/>
          <a:srcRect l="10514" t="5692" r="13014" b="5643"/>
          <a:stretch>
            <a:fillRect/>
          </a:stretch>
        </p:blipFill>
        <p:spPr>
          <a:xfrm>
            <a:off x="6113780" y="843915"/>
            <a:ext cx="180001" cy="34556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8145" y="1705610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无影光源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7" cstate="print"/>
          <a:srcRect l="2793" t="6290" r="4092" b="6482"/>
          <a:stretch>
            <a:fillRect/>
          </a:stretch>
        </p:blipFill>
        <p:spPr>
          <a:xfrm>
            <a:off x="5962015" y="2092325"/>
            <a:ext cx="1080008" cy="4653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83252" y="220202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圆顶光源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8" cstate="print"/>
          <a:srcRect l="5644" t="15694" r="4229" b="15635"/>
          <a:stretch>
            <a:fillRect/>
          </a:stretch>
        </p:blipFill>
        <p:spPr>
          <a:xfrm>
            <a:off x="2030095" y="2093228"/>
            <a:ext cx="540004" cy="1375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9"/>
          <a:srcRect l="4339" t="10891" r="3362" b="12476"/>
          <a:stretch>
            <a:fillRect/>
          </a:stretch>
        </p:blipFill>
        <p:spPr>
          <a:xfrm>
            <a:off x="2847692" y="2096504"/>
            <a:ext cx="540004" cy="13401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0"/>
          <a:srcRect t="5225" r="1878" b="7601"/>
          <a:stretch>
            <a:fillRect/>
          </a:stretch>
        </p:blipFill>
        <p:spPr>
          <a:xfrm>
            <a:off x="3660883" y="2096990"/>
            <a:ext cx="540004" cy="1347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7902" y="203818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平面无影光源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1" cstate="print"/>
          <a:srcRect l="4572" t="15151" r="3540" b="16716"/>
          <a:stretch>
            <a:fillRect/>
          </a:stretch>
        </p:blipFill>
        <p:spPr>
          <a:xfrm>
            <a:off x="2030095" y="2501900"/>
            <a:ext cx="540004" cy="1265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4572" y="2441750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环形无影光源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2"/>
          <a:srcRect l="735" t="215" r="659" b="8967"/>
          <a:stretch>
            <a:fillRect/>
          </a:stretch>
        </p:blipFill>
        <p:spPr>
          <a:xfrm>
            <a:off x="2847975" y="2501900"/>
            <a:ext cx="540004" cy="130654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3"/>
          <a:srcRect l="471" t="5707" r="401" b="4929"/>
          <a:stretch>
            <a:fillRect/>
          </a:stretch>
        </p:blipFill>
        <p:spPr>
          <a:xfrm>
            <a:off x="3660775" y="2506345"/>
            <a:ext cx="540004" cy="1310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2290" y="3386455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线性光源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/>
          <a:srcRect l="11170" t="2608" r="11447"/>
          <a:stretch>
            <a:fillRect/>
          </a:stretch>
        </p:blipFill>
        <p:spPr>
          <a:xfrm>
            <a:off x="2174240" y="3220720"/>
            <a:ext cx="252002" cy="8433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5" cstate="print"/>
          <a:srcRect l="3623" t="6700" r="5448" b="2325"/>
          <a:stretch>
            <a:fillRect/>
          </a:stretch>
        </p:blipFill>
        <p:spPr>
          <a:xfrm>
            <a:off x="3592830" y="3220720"/>
            <a:ext cx="684005" cy="35199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6" cstate="print"/>
          <a:srcRect l="3070" t="8372" r="2271" b="8125"/>
          <a:stretch>
            <a:fillRect/>
          </a:stretch>
        </p:blipFill>
        <p:spPr>
          <a:xfrm>
            <a:off x="5781040" y="3220720"/>
            <a:ext cx="1440011" cy="668564"/>
          </a:xfrm>
          <a:prstGeom prst="rect">
            <a:avLst/>
          </a:prstGeom>
        </p:spPr>
      </p:pic>
      <p:sp>
        <p:nvSpPr>
          <p:cNvPr id="30" name="TextBox 17"/>
          <p:cNvSpPr txBox="1"/>
          <p:nvPr/>
        </p:nvSpPr>
        <p:spPr>
          <a:xfrm>
            <a:off x="2111452" y="4188306"/>
            <a:ext cx="436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3722447" y="4188306"/>
            <a:ext cx="690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同轴线光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7"/>
          <p:cNvSpPr txBox="1"/>
          <p:nvPr/>
        </p:nvSpPr>
        <p:spPr>
          <a:xfrm>
            <a:off x="6219902" y="4188306"/>
            <a:ext cx="563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隧道光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标注 33"/>
          <p:cNvSpPr/>
          <p:nvPr/>
        </p:nvSpPr>
        <p:spPr>
          <a:xfrm>
            <a:off x="1087120" y="4662805"/>
            <a:ext cx="405130" cy="156845"/>
          </a:xfrm>
          <a:prstGeom prst="wedgeRoundRectCallout">
            <a:avLst>
              <a:gd name="adj1" fmla="val 280407"/>
              <a:gd name="adj2" fmla="val 100607"/>
              <a:gd name="adj3" fmla="val 16667"/>
            </a:avLst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光源</a:t>
            </a:r>
            <a:r>
              <a:rPr lang="en-US" altLang="zh-CN" sz="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2487930" y="4940935"/>
            <a:ext cx="1876425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650740" y="4849495"/>
            <a:ext cx="9969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600"/>
              <a:t>尺寸标注 </a:t>
            </a:r>
            <a:r>
              <a:rPr lang="en-US" altLang="zh-CN" sz="600"/>
              <a:t>60+/-10mm</a:t>
            </a:r>
            <a:endParaRPr lang="en-US" altLang="zh-CN" sz="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5353" cy="545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 flipH="1" flipV="1">
            <a:off x="0" y="524453"/>
            <a:ext cx="9157856" cy="45719"/>
            <a:chOff x="0" y="5588000"/>
            <a:chExt cx="12202605" cy="107950"/>
          </a:xfrm>
        </p:grpSpPr>
        <p:sp>
          <p:nvSpPr>
            <p:cNvPr id="13" name="矩形 12"/>
            <p:cNvSpPr/>
            <p:nvPr/>
          </p:nvSpPr>
          <p:spPr>
            <a:xfrm>
              <a:off x="0" y="5588000"/>
              <a:ext cx="6605362" cy="107950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739613" y="5588000"/>
              <a:ext cx="2617113" cy="107950"/>
            </a:xfrm>
            <a:prstGeom prst="rect">
              <a:avLst/>
            </a:prstGeom>
            <a:solidFill>
              <a:srgbClr val="806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497799" y="5588000"/>
              <a:ext cx="2704806" cy="107950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397173" y="5147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1F6FB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东莞康视达自动化科技有限公司</a:t>
            </a:r>
            <a:endParaRPr lang="zh-CN" altLang="en-US">
              <a:solidFill>
                <a:srgbClr val="1F6FB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6" y="-280299"/>
            <a:ext cx="1498476" cy="1123857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382270" y="770890"/>
            <a:ext cx="99885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/>
          <a:srcRect l="12742" t="4107" r="19360" b="6244"/>
          <a:stretch>
            <a:fillRect/>
          </a:stretch>
        </p:blipFill>
        <p:spPr>
          <a:xfrm>
            <a:off x="1833880" y="904875"/>
            <a:ext cx="301625" cy="88328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/>
          <a:srcRect l="19275" t="1547" r="22932" b="4664"/>
          <a:stretch>
            <a:fillRect/>
          </a:stretch>
        </p:blipFill>
        <p:spPr>
          <a:xfrm>
            <a:off x="3388043" y="904875"/>
            <a:ext cx="240301" cy="1080008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 cstate="print"/>
          <a:srcRect l="17799" t="2174" r="24933" b="4138"/>
          <a:stretch>
            <a:fillRect/>
          </a:stretch>
        </p:blipFill>
        <p:spPr>
          <a:xfrm>
            <a:off x="3904298" y="904875"/>
            <a:ext cx="238015" cy="108000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 cstate="print"/>
          <a:srcRect l="16310" t="2802" r="16725" b="3607"/>
          <a:stretch>
            <a:fillRect/>
          </a:stretch>
        </p:blipFill>
        <p:spPr>
          <a:xfrm>
            <a:off x="5636260" y="904558"/>
            <a:ext cx="345027" cy="1080008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 cstate="print"/>
          <a:srcRect l="12388" t="3606" r="20741" b="2597"/>
          <a:stretch>
            <a:fillRect/>
          </a:stretch>
        </p:blipFill>
        <p:spPr>
          <a:xfrm>
            <a:off x="5060950" y="904558"/>
            <a:ext cx="343104" cy="1080008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7" cstate="print"/>
          <a:srcRect l="10564" t="2714" r="7673" b="5854"/>
          <a:stretch>
            <a:fillRect/>
          </a:stretch>
        </p:blipFill>
        <p:spPr>
          <a:xfrm>
            <a:off x="7360603" y="904875"/>
            <a:ext cx="413392" cy="1080008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8" cstate="print"/>
          <a:srcRect l="7676" r="10555" b="8152"/>
          <a:stretch>
            <a:fillRect/>
          </a:stretch>
        </p:blipFill>
        <p:spPr>
          <a:xfrm>
            <a:off x="6738303" y="904875"/>
            <a:ext cx="411835" cy="1080008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9" cstate="print"/>
          <a:srcRect l="7025" t="7204" r="6527" b="5408"/>
          <a:stretch>
            <a:fillRect/>
          </a:stretch>
        </p:blipFill>
        <p:spPr>
          <a:xfrm>
            <a:off x="1703070" y="3004185"/>
            <a:ext cx="985520" cy="705485"/>
          </a:xfrm>
          <a:prstGeom prst="rect">
            <a:avLst/>
          </a:prstGeom>
        </p:spPr>
      </p:pic>
      <p:pic>
        <p:nvPicPr>
          <p:cNvPr id="19" name="图片 18" descr="图片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9175" y="906145"/>
            <a:ext cx="303491" cy="882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808598" y="846689"/>
            <a:ext cx="303491" cy="1514555"/>
            <a:chOff x="4652226" y="904558"/>
            <a:chExt cx="303491" cy="1514555"/>
          </a:xfrm>
        </p:grpSpPr>
        <p:pic>
          <p:nvPicPr>
            <p:cNvPr id="20" name="图片 19" descr="图片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52226" y="904558"/>
              <a:ext cx="303491" cy="8820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69967" y="1476138"/>
              <a:ext cx="285750" cy="942975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4519" y="894436"/>
            <a:ext cx="238015" cy="123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/>
          <a:srcRect l="12742" t="4107" r="19360" b="6244"/>
          <a:stretch>
            <a:fillRect/>
          </a:stretch>
        </p:blipFill>
        <p:spPr>
          <a:xfrm>
            <a:off x="4270375" y="411510"/>
            <a:ext cx="301625" cy="883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rcRect t="6745" b="7252"/>
          <a:stretch>
            <a:fillRect/>
          </a:stretch>
        </p:blipFill>
        <p:spPr>
          <a:xfrm rot="18510854">
            <a:off x="3459014" y="3596528"/>
            <a:ext cx="307661" cy="2484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 t="6745" b="7252"/>
          <a:stretch>
            <a:fillRect/>
          </a:stretch>
        </p:blipFill>
        <p:spPr>
          <a:xfrm rot="2927984">
            <a:off x="5053077" y="3596377"/>
            <a:ext cx="307661" cy="24840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198366" y="4659982"/>
            <a:ext cx="445641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519378" y="3901452"/>
            <a:ext cx="28528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292080" y="3918131"/>
            <a:ext cx="0" cy="7418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198366" y="4659982"/>
            <a:ext cx="1203319" cy="8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4421187" y="1294160"/>
            <a:ext cx="1" cy="33651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229530" y="4172299"/>
            <a:ext cx="936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20mm</a:t>
            </a:r>
            <a:endParaRPr lang="zh-CN" altLang="en-US" sz="1400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3612844" y="3918133"/>
            <a:ext cx="0" cy="16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206907" y="3901452"/>
            <a:ext cx="0" cy="16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3673962" y="4005392"/>
            <a:ext cx="14401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015685" y="3972293"/>
            <a:ext cx="936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140mm</a:t>
            </a:r>
            <a:endParaRPr lang="zh-CN" altLang="en-US" sz="1400" dirty="0"/>
          </a:p>
        </p:txBody>
      </p:sp>
      <p:cxnSp>
        <p:nvCxnSpPr>
          <p:cNvPr id="33" name="直接连接符 32"/>
          <p:cNvCxnSpPr/>
          <p:nvPr/>
        </p:nvCxnSpPr>
        <p:spPr>
          <a:xfrm flipV="1">
            <a:off x="5206907" y="2859782"/>
            <a:ext cx="958726" cy="8525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弧形 34"/>
          <p:cNvSpPr/>
          <p:nvPr/>
        </p:nvSpPr>
        <p:spPr>
          <a:xfrm>
            <a:off x="5229530" y="3488719"/>
            <a:ext cx="601037" cy="736517"/>
          </a:xfrm>
          <a:prstGeom prst="arc">
            <a:avLst>
              <a:gd name="adj1" fmla="val 16233757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724128" y="330647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20~45°</a:t>
            </a:r>
            <a:endParaRPr lang="en-US" altLang="zh-CN" sz="1400" dirty="0"/>
          </a:p>
          <a:p>
            <a:r>
              <a:rPr lang="zh-CN" altLang="en-US" sz="1400" dirty="0"/>
              <a:t>可调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92130" y="994065"/>
          <a:ext cx="4606925" cy="3155370"/>
        </p:xfrm>
        <a:graphic>
          <a:graphicData uri="http://schemas.openxmlformats.org/drawingml/2006/table">
            <a:tbl>
              <a:tblPr/>
              <a:tblGrid>
                <a:gridCol w="1025525"/>
                <a:gridCol w="1985010"/>
                <a:gridCol w="1596390"/>
              </a:tblGrid>
              <a:tr h="35176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相关参数</a:t>
                      </a:r>
                      <a:endParaRPr lang="zh-CN" altLang="zh-CN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245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500w 2/3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黑白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CST-TL1101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110mm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CST-2BS5718-B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8.4mm*7.1mm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0.0034mm/pixel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932984" y="4454032"/>
            <a:ext cx="7278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备注：使用条光倾斜照射，对产品来料位置要求严格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    产品边缘本身毛刺较多，抓边稳定性不高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1505" y="1503045"/>
            <a:ext cx="3190240" cy="2646045"/>
            <a:chOff x="963" y="2367"/>
            <a:chExt cx="5024" cy="4167"/>
          </a:xfrm>
        </p:grpSpPr>
        <p:grpSp>
          <p:nvGrpSpPr>
            <p:cNvPr id="32" name="组合 31"/>
            <p:cNvGrpSpPr/>
            <p:nvPr/>
          </p:nvGrpSpPr>
          <p:grpSpPr>
            <a:xfrm>
              <a:off x="963" y="3340"/>
              <a:ext cx="5024" cy="3195"/>
              <a:chOff x="1468378" y="2355614"/>
              <a:chExt cx="3046052" cy="194432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2626505" y="4200127"/>
                <a:ext cx="238011" cy="9981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print"/>
              <a:srcRect t="6745" b="7252"/>
              <a:stretch>
                <a:fillRect/>
              </a:stretch>
            </p:blipFill>
            <p:spPr>
              <a:xfrm rot="3176132">
                <a:off x="3156219" y="3711821"/>
                <a:ext cx="221522" cy="178854"/>
              </a:xfrm>
              <a:prstGeom prst="rect">
                <a:avLst/>
              </a:prstGeom>
            </p:spPr>
          </p:pic>
          <p:cxnSp>
            <p:nvCxnSpPr>
              <p:cNvPr id="8" name="直接连接符 7"/>
              <p:cNvCxnSpPr/>
              <p:nvPr/>
            </p:nvCxnSpPr>
            <p:spPr>
              <a:xfrm>
                <a:off x="2202494" y="4299942"/>
                <a:ext cx="1368152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2202494" y="2355614"/>
                <a:ext cx="441782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2267744" y="2355614"/>
                <a:ext cx="0" cy="1944327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1468378" y="3189295"/>
                <a:ext cx="682584" cy="205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480</a:t>
                </a:r>
                <a:r>
                  <a:rPr lang="zh-CN" altLang="en-US" sz="800" dirty="0"/>
                  <a:t>±</a:t>
                </a:r>
                <a:r>
                  <a:rPr lang="en-US" altLang="zh-CN" sz="800" dirty="0"/>
                  <a:t>30mm</a:t>
                </a:r>
                <a:endParaRPr lang="zh-CN" altLang="en-US" sz="800" dirty="0"/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3128864" y="3941593"/>
                <a:ext cx="441782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3128863" y="3419110"/>
                <a:ext cx="651048" cy="4986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3266980" y="3941593"/>
                <a:ext cx="0" cy="342049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3396559" y="3975457"/>
                <a:ext cx="10314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/>
                  <a:t>25±20mm</a:t>
                </a:r>
                <a:endParaRPr lang="zh-CN" altLang="en-US" sz="1200" dirty="0"/>
              </a:p>
            </p:txBody>
          </p:sp>
          <p:sp>
            <p:nvSpPr>
              <p:cNvPr id="26" name="弧形 25"/>
              <p:cNvSpPr/>
              <p:nvPr/>
            </p:nvSpPr>
            <p:spPr>
              <a:xfrm>
                <a:off x="3050956" y="3711059"/>
                <a:ext cx="432048" cy="404241"/>
              </a:xfrm>
              <a:prstGeom prst="arc">
                <a:avLst>
                  <a:gd name="adj1" fmla="val 18077160"/>
                  <a:gd name="adj2" fmla="val 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3483004" y="3621845"/>
                <a:ext cx="10314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/>
                  <a:t>15~45°</a:t>
                </a:r>
                <a:r>
                  <a:rPr lang="zh-CN" altLang="en-US" sz="1200" dirty="0"/>
                  <a:t>可调</a:t>
                </a:r>
                <a:endParaRPr lang="zh-CN" altLang="en-US" sz="1200" dirty="0"/>
              </a:p>
            </p:txBody>
          </p: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1" y="2367"/>
              <a:ext cx="356" cy="9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60380" y="583220"/>
          <a:ext cx="4809490" cy="3657600"/>
        </p:xfrm>
        <a:graphic>
          <a:graphicData uri="http://schemas.openxmlformats.org/drawingml/2006/table">
            <a:tbl>
              <a:tblPr/>
              <a:tblGrid>
                <a:gridCol w="1070610"/>
                <a:gridCol w="2072005"/>
                <a:gridCol w="1666875"/>
              </a:tblGrid>
              <a:tr h="27432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相关参数</a:t>
                      </a:r>
                      <a:endParaRPr lang="zh-CN" altLang="zh-CN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500w 1/2.5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黑白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480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±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CST-2BS10238-W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短边方向条光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CST-2BS14738-W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长边方向条光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安装方式与短边一样</a:t>
                      </a:r>
                      <a:endParaRPr 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81mm*60mm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0.03mm/pixel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1386205" y="4362450"/>
            <a:ext cx="6637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备注：使用条光倾斜照射，分次照射，水平方向条光拍摄一次，垂直方向条光拍摄一次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53745" y="713740"/>
            <a:ext cx="2916555" cy="3341023"/>
            <a:chOff x="1470" y="2294"/>
            <a:chExt cx="4371" cy="4530"/>
          </a:xfrm>
        </p:grpSpPr>
        <p:grpSp>
          <p:nvGrpSpPr>
            <p:cNvPr id="11" name="组合 10"/>
            <p:cNvGrpSpPr/>
            <p:nvPr/>
          </p:nvGrpSpPr>
          <p:grpSpPr>
            <a:xfrm>
              <a:off x="1470" y="3267"/>
              <a:ext cx="4371" cy="3556"/>
              <a:chOff x="859" y="3328"/>
              <a:chExt cx="4981" cy="385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2866" y="6359"/>
                <a:ext cx="393" cy="16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print"/>
              <a:srcRect t="6745" b="7252"/>
              <a:stretch>
                <a:fillRect/>
              </a:stretch>
            </p:blipFill>
            <p:spPr>
              <a:xfrm rot="4196130">
                <a:off x="3911" y="5620"/>
                <a:ext cx="364" cy="295"/>
              </a:xfrm>
              <a:prstGeom prst="rect">
                <a:avLst/>
              </a:prstGeom>
            </p:spPr>
          </p:pic>
          <p:cxnSp>
            <p:nvCxnSpPr>
              <p:cNvPr id="8" name="直接连接符 7"/>
              <p:cNvCxnSpPr/>
              <p:nvPr/>
            </p:nvCxnSpPr>
            <p:spPr>
              <a:xfrm>
                <a:off x="2137" y="6523"/>
                <a:ext cx="2256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2137" y="3328"/>
                <a:ext cx="729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2244" y="3328"/>
                <a:ext cx="0" cy="3195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859" y="4742"/>
                <a:ext cx="1278" cy="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480</a:t>
                </a:r>
                <a:r>
                  <a:rPr lang="zh-CN" altLang="en-US" sz="800" dirty="0"/>
                  <a:t>±</a:t>
                </a:r>
                <a:r>
                  <a:rPr lang="en-US" altLang="zh-CN" sz="800" dirty="0"/>
                  <a:t>30mm</a:t>
                </a:r>
                <a:endParaRPr lang="zh-CN" altLang="en-US" sz="800" dirty="0"/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3665" y="5934"/>
                <a:ext cx="729" cy="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stCxn id="5" idx="0"/>
              </p:cNvCxnSpPr>
              <p:nvPr/>
            </p:nvCxnSpPr>
            <p:spPr>
              <a:xfrm flipV="1">
                <a:off x="3063" y="5411"/>
                <a:ext cx="2012" cy="9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4029" y="5934"/>
                <a:ext cx="0" cy="562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4147" y="6022"/>
                <a:ext cx="1317" cy="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50±10mm</a:t>
                </a:r>
                <a:endParaRPr lang="zh-CN" altLang="en-US" sz="800" dirty="0"/>
              </a:p>
            </p:txBody>
          </p:sp>
          <p:sp>
            <p:nvSpPr>
              <p:cNvPr id="26" name="弧形 25"/>
              <p:cNvSpPr/>
              <p:nvPr/>
            </p:nvSpPr>
            <p:spPr>
              <a:xfrm>
                <a:off x="3529" y="5602"/>
                <a:ext cx="713" cy="664"/>
              </a:xfrm>
              <a:prstGeom prst="arc">
                <a:avLst>
                  <a:gd name="adj1" fmla="val 19575405"/>
                  <a:gd name="adj2" fmla="val 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471" y="5602"/>
                <a:ext cx="1369" cy="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15~45°</a:t>
                </a:r>
                <a:r>
                  <a:rPr lang="zh-CN" altLang="en-US" sz="800" dirty="0"/>
                  <a:t>可调</a:t>
                </a:r>
                <a:endParaRPr lang="zh-CN" altLang="en-US" sz="800" dirty="0"/>
              </a:p>
            </p:txBody>
          </p:sp>
          <p:cxnSp>
            <p:nvCxnSpPr>
              <p:cNvPr id="2" name="直接箭头连接符 1"/>
              <p:cNvCxnSpPr/>
              <p:nvPr/>
            </p:nvCxnSpPr>
            <p:spPr>
              <a:xfrm flipH="1">
                <a:off x="3229" y="6769"/>
                <a:ext cx="912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直接连接符 2"/>
              <p:cNvCxnSpPr/>
              <p:nvPr/>
            </p:nvCxnSpPr>
            <p:spPr>
              <a:xfrm>
                <a:off x="3231" y="6545"/>
                <a:ext cx="0" cy="34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4138" y="6545"/>
                <a:ext cx="9" cy="340"/>
              </a:xfrm>
              <a:prstGeom prst="line">
                <a:avLst/>
              </a:prstGeom>
              <a:ln w="15875">
                <a:solidFill>
                  <a:srgbClr val="92D050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3026" y="6871"/>
                <a:ext cx="1317" cy="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/>
                  <a:t>90</a:t>
                </a:r>
                <a:r>
                  <a:rPr lang="zh-CN" altLang="en-US" sz="800" dirty="0"/>
                  <a:t>±</a:t>
                </a:r>
                <a:r>
                  <a:rPr lang="en-US" altLang="zh-CN" sz="800" dirty="0"/>
                  <a:t>10mm</a:t>
                </a:r>
                <a:endParaRPr lang="zh-CN" altLang="en-US" sz="800" dirty="0"/>
              </a:p>
            </p:txBody>
          </p:sp>
        </p:grp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0" y="2294"/>
              <a:ext cx="356" cy="9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92130" y="994065"/>
          <a:ext cx="4606925" cy="3735070"/>
        </p:xfrm>
        <a:graphic>
          <a:graphicData uri="http://schemas.openxmlformats.org/drawingml/2006/table">
            <a:tbl>
              <a:tblPr/>
              <a:tblGrid>
                <a:gridCol w="1025525"/>
                <a:gridCol w="1985010"/>
                <a:gridCol w="1596390"/>
              </a:tblGrid>
              <a:tr h="35176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相关参数</a:t>
                      </a:r>
                      <a:endParaRPr lang="zh-CN" altLang="zh-CN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2455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2000w 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英寸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黑白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XF-MH01X445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445mm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CST-RS21300-W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±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CST-RS18060-W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±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131mm*88mm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8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0.024mm/pixel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34365" y="993775"/>
            <a:ext cx="3247390" cy="3735070"/>
            <a:chOff x="963" y="1565"/>
            <a:chExt cx="4585" cy="513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/>
            <a:srcRect l="17799" t="2174" r="24933" b="4138"/>
            <a:stretch>
              <a:fillRect/>
            </a:stretch>
          </p:blipFill>
          <p:spPr>
            <a:xfrm>
              <a:off x="2873" y="1565"/>
              <a:ext cx="393" cy="1774"/>
            </a:xfrm>
            <a:prstGeom prst="rect">
              <a:avLst/>
            </a:prstGeom>
          </p:spPr>
        </p:pic>
        <p:sp>
          <p:nvSpPr>
            <p:cNvPr id="5" name="矩形: 圆角 4"/>
            <p:cNvSpPr/>
            <p:nvPr/>
          </p:nvSpPr>
          <p:spPr>
            <a:xfrm>
              <a:off x="2873" y="6535"/>
              <a:ext cx="393" cy="1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2281" y="6508"/>
              <a:ext cx="2256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174" y="3340"/>
              <a:ext cx="729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2281" y="3340"/>
              <a:ext cx="0" cy="3195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963" y="4710"/>
              <a:ext cx="1126" cy="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445mm</a:t>
              </a:r>
              <a:endParaRPr lang="zh-CN" altLang="en-US" sz="1200" dirty="0"/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3702" y="5978"/>
              <a:ext cx="324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3783" y="5978"/>
              <a:ext cx="15" cy="53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3484" y="6075"/>
              <a:ext cx="1221" cy="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/>
                <a:t>30±10mm</a:t>
              </a:r>
              <a:endParaRPr lang="zh-CN" altLang="en-US" sz="800" dirty="0"/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3"/>
            <a:srcRect t="6673" b="13345"/>
            <a:stretch>
              <a:fillRect/>
            </a:stretch>
          </p:blipFill>
          <p:spPr>
            <a:xfrm>
              <a:off x="2362" y="5876"/>
              <a:ext cx="1340" cy="12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 cstate="print"/>
            <a:srcRect t="11858" r="6555" b="13195"/>
            <a:stretch>
              <a:fillRect/>
            </a:stretch>
          </p:blipFill>
          <p:spPr>
            <a:xfrm>
              <a:off x="2535" y="5597"/>
              <a:ext cx="994" cy="150"/>
            </a:xfrm>
            <a:prstGeom prst="rect">
              <a:avLst/>
            </a:prstGeom>
          </p:spPr>
        </p:pic>
        <p:cxnSp>
          <p:nvCxnSpPr>
            <p:cNvPr id="2" name="直接箭头连接符 1"/>
            <p:cNvCxnSpPr/>
            <p:nvPr/>
          </p:nvCxnSpPr>
          <p:spPr>
            <a:xfrm>
              <a:off x="4425" y="5751"/>
              <a:ext cx="5" cy="757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/>
            <p:cNvCxnSpPr/>
            <p:nvPr/>
          </p:nvCxnSpPr>
          <p:spPr>
            <a:xfrm>
              <a:off x="3414" y="5747"/>
              <a:ext cx="1178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4327" y="5876"/>
              <a:ext cx="1221" cy="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/>
                <a:t>50±10mm</a:t>
              </a:r>
              <a:endParaRPr lang="zh-CN" altLang="en-US" sz="8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219960" y="1885315"/>
            <a:ext cx="4106545" cy="1989455"/>
            <a:chOff x="3496" y="2969"/>
            <a:chExt cx="6467" cy="3133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1" cstate="print"/>
            <a:srcRect l="12742" t="4107" r="19360" b="6244"/>
            <a:stretch>
              <a:fillRect/>
            </a:stretch>
          </p:blipFill>
          <p:spPr>
            <a:xfrm rot="2100000">
              <a:off x="6848" y="2979"/>
              <a:ext cx="475" cy="1391"/>
            </a:xfrm>
            <a:prstGeom prst="rect">
              <a:avLst/>
            </a:prstGeom>
          </p:spPr>
        </p:pic>
        <p:sp>
          <p:nvSpPr>
            <p:cNvPr id="5" name="圆柱形 4"/>
            <p:cNvSpPr/>
            <p:nvPr/>
          </p:nvSpPr>
          <p:spPr>
            <a:xfrm>
              <a:off x="5897" y="5724"/>
              <a:ext cx="340" cy="226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2" cstate="print"/>
            <a:srcRect l="2793" t="6290" r="4092" b="6482"/>
            <a:stretch>
              <a:fillRect/>
            </a:stretch>
          </p:blipFill>
          <p:spPr>
            <a:xfrm>
              <a:off x="5400" y="4978"/>
              <a:ext cx="1333" cy="57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 cstate="print"/>
            <a:srcRect l="10514" t="5692" r="13014" b="5643"/>
            <a:stretch>
              <a:fillRect/>
            </a:stretch>
          </p:blipFill>
          <p:spPr>
            <a:xfrm>
              <a:off x="5901" y="3909"/>
              <a:ext cx="336" cy="646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3496" y="4135"/>
              <a:ext cx="10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点光</a:t>
              </a:r>
              <a:endParaRPr lang="zh-CN" altLang="en-US" sz="160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552" y="5022"/>
              <a:ext cx="10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圆顶</a:t>
              </a:r>
              <a:endParaRPr lang="zh-CN" altLang="en-US" sz="16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09" y="5572"/>
              <a:ext cx="10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产品</a:t>
              </a:r>
              <a:endParaRPr lang="zh-CN" altLang="en-US" sz="16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96" y="2969"/>
              <a:ext cx="10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相机</a:t>
              </a:r>
              <a:endParaRPr lang="zh-CN" altLang="en-US" sz="160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496" y="3604"/>
              <a:ext cx="10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镜头</a:t>
              </a:r>
              <a:endParaRPr lang="zh-CN" altLang="en-US" sz="16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493" y="5101"/>
              <a:ext cx="2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rgbClr val="FF0000"/>
                  </a:solidFill>
                </a:rPr>
                <a:t>圆顶开孔直径</a:t>
              </a:r>
              <a:r>
                <a:rPr lang="en-US" altLang="zh-CN" sz="1000">
                  <a:solidFill>
                    <a:srgbClr val="FF0000"/>
                  </a:solidFill>
                </a:rPr>
                <a:t>50mm</a:t>
              </a:r>
              <a:endParaRPr lang="en-US" altLang="zh-CN"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870585" y="1829435"/>
            <a:ext cx="3599815" cy="2180590"/>
            <a:chOff x="2732" y="4025"/>
            <a:chExt cx="5669" cy="343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/>
            <a:srcRect l="12742" t="4107" r="19360" b="6244"/>
            <a:stretch>
              <a:fillRect/>
            </a:stretch>
          </p:blipFill>
          <p:spPr>
            <a:xfrm>
              <a:off x="6731" y="4025"/>
              <a:ext cx="475" cy="1391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675" y="7339"/>
              <a:ext cx="588" cy="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5839" y="6772"/>
              <a:ext cx="0" cy="56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5499" y="7326"/>
              <a:ext cx="11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968" y="5387"/>
              <a:ext cx="0" cy="193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4626" y="6838"/>
              <a:ext cx="11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20mm</a:t>
              </a:r>
              <a:endParaRPr lang="zh-CN" altLang="en-US" sz="1200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4372" y="6027"/>
              <a:ext cx="2834" cy="745"/>
              <a:chOff x="4365" y="5411"/>
              <a:chExt cx="2834" cy="745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/>
              <a:srcRect t="6745" b="7252"/>
              <a:stretch>
                <a:fillRect/>
              </a:stretch>
            </p:blipFill>
            <p:spPr>
              <a:xfrm rot="17490853">
                <a:off x="5447" y="5664"/>
                <a:ext cx="485" cy="391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/>
              <p:nvPr/>
            </p:nvCxnSpPr>
            <p:spPr>
              <a:xfrm>
                <a:off x="4365" y="6156"/>
                <a:ext cx="283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4479" y="5411"/>
                <a:ext cx="1814" cy="6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弧形 34"/>
            <p:cNvSpPr/>
            <p:nvPr/>
          </p:nvSpPr>
          <p:spPr>
            <a:xfrm rot="15840000">
              <a:off x="5071" y="6359"/>
              <a:ext cx="645" cy="677"/>
            </a:xfrm>
            <a:prstGeom prst="arc">
              <a:avLst>
                <a:gd name="adj1" fmla="val 16233757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2732" y="6273"/>
              <a:ext cx="19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15~45°</a:t>
              </a:r>
              <a:r>
                <a:rPr lang="zh-CN" altLang="en-US" sz="1200" dirty="0"/>
                <a:t>可调</a:t>
              </a:r>
              <a:endParaRPr lang="zh-CN" altLang="en-US" sz="1200" dirty="0"/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6889" y="5398"/>
              <a:ext cx="7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7459" y="5416"/>
              <a:ext cx="0" cy="194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7263" y="6258"/>
              <a:ext cx="11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49mm</a:t>
              </a:r>
              <a:endParaRPr lang="zh-CN" altLang="en-US" sz="1200" dirty="0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675" y="7326"/>
              <a:ext cx="10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84358" y="1599724"/>
            <a:ext cx="375761" cy="83534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36745" y="3504724"/>
            <a:ext cx="366236" cy="571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215289" y="3496151"/>
            <a:ext cx="1817846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829175" y="2595086"/>
            <a:ext cx="860584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5693569" y="2587943"/>
            <a:ext cx="0" cy="91821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003006" y="2908935"/>
            <a:ext cx="71818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350"/>
              <a:t>180mm</a:t>
            </a:r>
            <a:endParaRPr lang="en-US" altLang="zh-CN" sz="1350"/>
          </a:p>
        </p:txBody>
      </p:sp>
      <p:sp>
        <p:nvSpPr>
          <p:cNvPr id="7" name="文本框 6"/>
          <p:cNvSpPr txBox="1"/>
          <p:nvPr/>
        </p:nvSpPr>
        <p:spPr>
          <a:xfrm>
            <a:off x="2954179" y="2400300"/>
            <a:ext cx="5257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/>
              <a:t>光源</a:t>
            </a:r>
            <a:endParaRPr lang="zh-CN" altLang="en-US" sz="1350"/>
          </a:p>
        </p:txBody>
      </p:sp>
      <p:sp>
        <p:nvSpPr>
          <p:cNvPr id="8" name="文本框 7"/>
          <p:cNvSpPr txBox="1"/>
          <p:nvPr/>
        </p:nvSpPr>
        <p:spPr>
          <a:xfrm>
            <a:off x="2954179" y="3358039"/>
            <a:ext cx="6972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/>
              <a:t>被测物</a:t>
            </a:r>
            <a:endParaRPr lang="zh-CN" altLang="en-US" sz="1350"/>
          </a:p>
        </p:txBody>
      </p:sp>
      <p:sp>
        <p:nvSpPr>
          <p:cNvPr id="9" name="文本框 8"/>
          <p:cNvSpPr txBox="1"/>
          <p:nvPr/>
        </p:nvSpPr>
        <p:spPr>
          <a:xfrm>
            <a:off x="2911316" y="1951196"/>
            <a:ext cx="8686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/>
              <a:t>相机镜头</a:t>
            </a:r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4661059" y="2381250"/>
            <a:ext cx="1350169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013609" y="2390775"/>
            <a:ext cx="476" cy="1105376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33135" y="2805589"/>
            <a:ext cx="71818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/>
              <a:t>200mm</a:t>
            </a:r>
            <a:endParaRPr lang="en-US" altLang="zh-CN" sz="13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rcRect l="1162" t="10921" r="2695" b="15767"/>
          <a:stretch>
            <a:fillRect/>
          </a:stretch>
        </p:blipFill>
        <p:spPr>
          <a:xfrm>
            <a:off x="4172426" y="2419112"/>
            <a:ext cx="778662" cy="18900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24514" y="573405"/>
            <a:ext cx="10868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/>
                </a:solidFill>
              </a:rPr>
              <a:t>环形光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60480" y="915325"/>
          <a:ext cx="3837940" cy="3382645"/>
        </p:xfrm>
        <a:graphic>
          <a:graphicData uri="http://schemas.openxmlformats.org/drawingml/2006/table">
            <a:tbl>
              <a:tblPr/>
              <a:tblGrid>
                <a:gridCol w="1289685"/>
                <a:gridCol w="1793240"/>
                <a:gridCol w="755015"/>
              </a:tblGrid>
              <a:tr h="3530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相关参数</a:t>
                      </a:r>
                      <a:endParaRPr lang="zh-CN" altLang="zh-CN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500w 1/2.5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黑白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CST-MH0.4X49 V5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0.4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49mm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CST-BS8629-IR940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红外条光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14.25mm*10.75mm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0.0055mm/pixel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控制器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CST-DPS2460B-4TD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41300" y="1622425"/>
            <a:ext cx="4395090" cy="2570480"/>
            <a:chOff x="1048" y="3731"/>
            <a:chExt cx="4939" cy="2804"/>
          </a:xfrm>
        </p:grpSpPr>
        <p:sp>
          <p:nvSpPr>
            <p:cNvPr id="5" name="矩形: 圆角 4"/>
            <p:cNvSpPr/>
            <p:nvPr/>
          </p:nvSpPr>
          <p:spPr>
            <a:xfrm>
              <a:off x="2873" y="6371"/>
              <a:ext cx="393" cy="1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/>
            <a:srcRect t="6745" b="7252"/>
            <a:stretch>
              <a:fillRect/>
            </a:stretch>
          </p:blipFill>
          <p:spPr>
            <a:xfrm rot="3176132">
              <a:off x="3748" y="5568"/>
              <a:ext cx="364" cy="295"/>
            </a:xfrm>
            <a:prstGeom prst="rect">
              <a:avLst/>
            </a:prstGeom>
          </p:spPr>
        </p:pic>
        <p:cxnSp>
          <p:nvCxnSpPr>
            <p:cNvPr id="8" name="直接连接符 7"/>
            <p:cNvCxnSpPr/>
            <p:nvPr/>
          </p:nvCxnSpPr>
          <p:spPr>
            <a:xfrm>
              <a:off x="2174" y="6375"/>
              <a:ext cx="2257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281" y="4710"/>
              <a:ext cx="729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2274" y="4730"/>
              <a:ext cx="0" cy="1608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1048" y="5612"/>
              <a:ext cx="1126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49</a:t>
              </a:r>
              <a:r>
                <a:rPr lang="en-US" altLang="zh-CN" sz="1200" dirty="0"/>
                <a:t>mm</a:t>
              </a:r>
              <a:endParaRPr lang="zh-CN" altLang="en-US" sz="1200" dirty="0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702" y="5946"/>
              <a:ext cx="729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3702" y="5088"/>
              <a:ext cx="1074" cy="8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3892" y="5946"/>
              <a:ext cx="0" cy="391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3930" y="6074"/>
              <a:ext cx="1701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20</a:t>
              </a:r>
              <a:r>
                <a:rPr lang="zh-CN" altLang="en-US" sz="1200" dirty="0"/>
                <a:t>±</a:t>
              </a:r>
              <a:r>
                <a:rPr lang="en-US" altLang="zh-CN" sz="1200" dirty="0"/>
                <a:t>5mm</a:t>
              </a:r>
              <a:endParaRPr lang="zh-CN" altLang="en-US" sz="1200" dirty="0"/>
            </a:p>
          </p:txBody>
        </p:sp>
        <p:sp>
          <p:nvSpPr>
            <p:cNvPr id="26" name="弧形 25"/>
            <p:cNvSpPr/>
            <p:nvPr/>
          </p:nvSpPr>
          <p:spPr>
            <a:xfrm>
              <a:off x="3573" y="5567"/>
              <a:ext cx="713" cy="664"/>
            </a:xfrm>
            <a:prstGeom prst="arc">
              <a:avLst>
                <a:gd name="adj1" fmla="val 18077160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286" y="5421"/>
              <a:ext cx="1701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15~45°</a:t>
              </a:r>
              <a:r>
                <a:rPr lang="zh-CN" altLang="en-US" sz="1200" dirty="0"/>
                <a:t>可调</a:t>
              </a:r>
              <a:endParaRPr lang="zh-CN" altLang="en-US" sz="1200" dirty="0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3" y="3731"/>
              <a:ext cx="356" cy="973"/>
            </a:xfrm>
            <a:prstGeom prst="rect">
              <a:avLst/>
            </a:prstGeom>
          </p:spPr>
        </p:pic>
        <p:cxnSp>
          <p:nvCxnSpPr>
            <p:cNvPr id="19" name="直接连接符 18"/>
            <p:cNvCxnSpPr/>
            <p:nvPr/>
          </p:nvCxnSpPr>
          <p:spPr>
            <a:xfrm flipH="1">
              <a:off x="3051" y="4730"/>
              <a:ext cx="0" cy="164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60480" y="915325"/>
          <a:ext cx="3837940" cy="3382645"/>
        </p:xfrm>
        <a:graphic>
          <a:graphicData uri="http://schemas.openxmlformats.org/drawingml/2006/table">
            <a:tbl>
              <a:tblPr/>
              <a:tblGrid>
                <a:gridCol w="1289685"/>
                <a:gridCol w="1793240"/>
                <a:gridCol w="755015"/>
              </a:tblGrid>
              <a:tr h="3530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相关参数</a:t>
                      </a:r>
                      <a:endParaRPr lang="zh-CN" altLang="zh-CN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500w 1/2.5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黑白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CST-MH0.4X49 V5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0.4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49mm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CST-RS5390-R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环光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工作距离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如图所示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视野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14.25mm*10.75mm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理论精度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0.0055mm/pixel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控制器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CST-DPS2460B-4TD</a:t>
                      </a:r>
                      <a:endParaRPr lang="en-US" altLang="zh-CN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41300" y="1627505"/>
            <a:ext cx="3375025" cy="2564765"/>
            <a:chOff x="380" y="2563"/>
            <a:chExt cx="5315" cy="4039"/>
          </a:xfrm>
        </p:grpSpPr>
        <p:sp>
          <p:nvSpPr>
            <p:cNvPr id="5" name="矩形: 圆角 4"/>
            <p:cNvSpPr/>
            <p:nvPr/>
          </p:nvSpPr>
          <p:spPr>
            <a:xfrm>
              <a:off x="2938" y="6366"/>
              <a:ext cx="551" cy="2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2039" y="6366"/>
              <a:ext cx="3163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108" y="3968"/>
              <a:ext cx="1022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2098" y="3932"/>
              <a:ext cx="0" cy="244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80" y="5271"/>
              <a:ext cx="1578" cy="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49</a:t>
              </a:r>
              <a:r>
                <a:rPr lang="en-US" altLang="zh-CN" sz="1200" dirty="0"/>
                <a:t>mm</a:t>
              </a:r>
              <a:endParaRPr lang="zh-CN" altLang="en-US" sz="1200" dirty="0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683" y="4355"/>
              <a:ext cx="1022" cy="0"/>
            </a:xfrm>
            <a:prstGeom prst="line">
              <a:avLst/>
            </a:prstGeom>
            <a:ln w="15875">
              <a:solidFill>
                <a:srgbClr val="92D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4419" y="4391"/>
              <a:ext cx="0" cy="1975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215" y="5161"/>
              <a:ext cx="14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20</a:t>
              </a:r>
              <a:r>
                <a:rPr lang="zh-CN" altLang="en-US" sz="1200" dirty="0"/>
                <a:t>±</a:t>
              </a:r>
              <a:r>
                <a:rPr lang="en-US" altLang="zh-CN" sz="1200" dirty="0"/>
                <a:t>5mm</a:t>
              </a:r>
              <a:endParaRPr lang="zh-CN" altLang="en-US" sz="1200" dirty="0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7" y="2563"/>
              <a:ext cx="499" cy="1405"/>
            </a:xfrm>
            <a:prstGeom prst="rect">
              <a:avLst/>
            </a:prstGeom>
          </p:spPr>
        </p:pic>
        <p:cxnSp>
          <p:nvCxnSpPr>
            <p:cNvPr id="19" name="直接连接符 18"/>
            <p:cNvCxnSpPr/>
            <p:nvPr/>
          </p:nvCxnSpPr>
          <p:spPr>
            <a:xfrm flipH="1">
              <a:off x="3187" y="3997"/>
              <a:ext cx="0" cy="236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 cstate="print"/>
            <a:srcRect l="3287" t="8230" r="3704" b="12363"/>
            <a:stretch>
              <a:fillRect/>
            </a:stretch>
          </p:blipFill>
          <p:spPr>
            <a:xfrm>
              <a:off x="2513" y="3997"/>
              <a:ext cx="1401" cy="3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efb6d580-c050-4c0e-ac79-18c154e8259b}"/>
  <p:tag name="TABLE_ENDDRAG_ORIGIN_RECT" val="362*303"/>
  <p:tag name="TABLE_ENDDRAG_RECT" val="273*74*362*303"/>
</p:tagLst>
</file>

<file path=ppt/tags/tag4.xml><?xml version="1.0" encoding="utf-8"?>
<p:tagLst xmlns:p="http://schemas.openxmlformats.org/presentationml/2006/main">
  <p:tag name="KSO_WM_UNIT_TABLE_BEAUTIFY" val="smartTable{efb6d580-c050-4c0e-ac79-18c154e8259b}"/>
  <p:tag name="TABLE_ENDDRAG_ORIGIN_RECT" val="378*267"/>
  <p:tag name="TABLE_ENDDRAG_RECT" val="326*39*378*267"/>
</p:tagLst>
</file>

<file path=ppt/tags/tag5.xml><?xml version="1.0" encoding="utf-8"?>
<p:tagLst xmlns:p="http://schemas.openxmlformats.org/presentationml/2006/main">
  <p:tag name="KSO_WM_UNIT_TABLE_BEAUTIFY" val="smartTable{efb6d580-c050-4c0e-ac79-18c154e8259b}"/>
  <p:tag name="TABLE_ENDDRAG_ORIGIN_RECT" val="362*303"/>
  <p:tag name="TABLE_ENDDRAG_RECT" val="273*74*362*303"/>
</p:tagLst>
</file>

<file path=ppt/tags/tag6.xml><?xml version="1.0" encoding="utf-8"?>
<p:tagLst xmlns:p="http://schemas.openxmlformats.org/presentationml/2006/main">
  <p:tag name="KSO_WM_UNIT_TABLE_BEAUTIFY" val="smartTable{efb6d580-c050-4c0e-ac79-18c154e8259b}"/>
  <p:tag name="TABLE_ENDDRAG_ORIGIN_RECT" val="302*266"/>
  <p:tag name="TABLE_ENDDRAG_RECT" val="429*78*302*266"/>
</p:tagLst>
</file>

<file path=ppt/tags/tag7.xml><?xml version="1.0" encoding="utf-8"?>
<p:tagLst xmlns:p="http://schemas.openxmlformats.org/presentationml/2006/main">
  <p:tag name="KSO_WM_UNIT_TABLE_BEAUTIFY" val="smartTable{efb6d580-c050-4c0e-ac79-18c154e8259b}"/>
  <p:tag name="TABLE_ENDDRAG_ORIGIN_RECT" val="302*266"/>
  <p:tag name="TABLE_ENDDRAG_RECT" val="429*78*302*266"/>
</p:tagLst>
</file>

<file path=ppt/tags/tag8.xml><?xml version="1.0" encoding="utf-8"?>
<p:tagLst xmlns:p="http://schemas.openxmlformats.org/presentationml/2006/main">
  <p:tag name="commondata" val="eyJoZGlkIjoiYjUyMjAzOWY0MjQyNjU1YTM5ZWI1MTgyMDk0N2M5MW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WPS 演示</Application>
  <PresentationFormat>全屏显示(16:9)</PresentationFormat>
  <Paragraphs>406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楷体</vt:lpstr>
      <vt:lpstr>Calibri</vt:lpstr>
      <vt:lpstr>Arial Unicode MS</vt:lpstr>
      <vt:lpstr>Office 主题</vt:lpstr>
      <vt:lpstr>Paint.Picture</vt:lpstr>
      <vt:lpstr>光源素材示意图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产品螺丝有无检测打光方案</dc:title>
  <dc:creator>Administrator</dc:creator>
  <cp:lastModifiedBy>刘志民</cp:lastModifiedBy>
  <cp:revision>120</cp:revision>
  <dcterms:created xsi:type="dcterms:W3CDTF">2017-09-15T02:34:00Z</dcterms:created>
  <dcterms:modified xsi:type="dcterms:W3CDTF">2026-05-22T06:12:13Z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13</vt:lpwstr>
  </property>
  <property fmtid="{D5CDD505-2E9C-101B-9397-08002B2CF9AE}" pid="3" name="KSOProductBuildVer">
    <vt:lpwstr>2052-12.1.0.18276</vt:lpwstr>
  </property>
  <property fmtid="{D5CDD505-2E9C-101B-9397-08002B2CF9AE}" pid="4" name="ICV">
    <vt:lpwstr>859B16FCC926407EB0BF647277C7AC23_13</vt:lpwstr>
  </property>
</Properties>
</file>